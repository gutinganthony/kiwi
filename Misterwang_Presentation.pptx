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914400" cy="914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097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Misterwang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2A5F5"/>
                </a:solidFill>
              </a:rPr>
              <a:t>王先生 · Your LINE Market Risk Companion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68880"/>
            <a:ext cx="10058400" cy="27432"/>
          </a:xfrm>
          <a:prstGeom prst="rect">
            <a:avLst/>
          </a:prstGeom>
          <a:solidFill>
            <a:srgbClr val="363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1D4DC"/>
                </a:solidFill>
              </a:rPr>
              <a:t>A LINE chatbot that monitors market risk 24/7 and delivers plain-language alerts when it matters most.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83280"/>
            <a:ext cx="2926080" cy="146304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2926080" cy="64008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C948"/>
                </a:solidFill>
              </a:rPr>
              <a:t>AVI 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7763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Long-term valuation
risk 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83280"/>
            <a:ext cx="2926080" cy="146304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3383280"/>
            <a:ext cx="2926080" cy="6400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520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A69A"/>
                </a:solidFill>
              </a:rPr>
              <a:t>CPI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97763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Short-term crash
probability (daily)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3383280"/>
            <a:ext cx="2926080" cy="146304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3383280"/>
            <a:ext cx="2926080" cy="6400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3520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800"/>
                </a:solidFill>
              </a:rPr>
              <a:t>TSI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97763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Tech sector stress
index (daily)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87B86"/>
                </a:solidFill>
              </a:rPr>
              <a:t>Built with Claude · Deployed on Cloudflare Workers · Bilingual EN/ZH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B86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3200400" cy="3657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5350"/>
                </a:solidFill>
              </a:rPr>
              <a:t>Without Misterwang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64008" cy="65836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📊  Markets move 24/7 — you can't watch everything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64008" cy="65836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048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📉  By the time you notice, it's already too 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64008" cy="65836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821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🧩  50+ indicators — which ones actually matter?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64008" cy="65836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593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💬  No one explains it in plain language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64008" cy="65836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365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🔕  Alerts are for Bloomberg terminals, not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108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2A5F5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A69A"/>
                </a:solidFill>
              </a:rPr>
              <a:t>With Misterwang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55448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1554480"/>
            <a:ext cx="64008" cy="65836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6276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🤖  Bot monitors AVI, CPI, TSI for you — always 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33172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2331720"/>
            <a:ext cx="64008" cy="65836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24048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⚡  Flash Alert: notified 23–42 days before crashes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10896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3108960"/>
            <a:ext cx="64008" cy="65836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1821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3️⃣  Just 3 numbers: AVI / CPI / TSI — that's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88620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75120" y="3886200"/>
            <a:ext cx="64008" cy="65836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9593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📝  Plain-language explanation, bilingual EN/中文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663440"/>
            <a:ext cx="5029200" cy="658368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5120" y="4663440"/>
            <a:ext cx="64008" cy="65836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7365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4DC"/>
                </a:solidFill>
              </a:rPr>
              <a:t>📱  Alerts delivered directly to your LINE chat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B86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Three-Signal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7B86"/>
                </a:solidFill>
              </a:rPr>
              <a:t>Three complementary indices covering different time horizons and risk dimensions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66160" cy="4389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66160" cy="9144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C948"/>
                </a:solidFill>
              </a:rPr>
              <a:t>AVI 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Adjusted Valuation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377440"/>
            <a:ext cx="3291840" cy="27432"/>
          </a:xfrm>
          <a:prstGeom prst="rect">
            <a:avLst/>
          </a:prstGeom>
          <a:solidFill>
            <a:srgbClr val="363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Frequency: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Monthly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443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Scale: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944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0 – 10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1985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Indicators: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4198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14 indicators, 6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Data 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8953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FRED, multpl.com, yfinance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70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Key metrics: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3708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CAPE, P/S, VIX, Credit spreads,
yield curve, momentum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46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Current: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46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C948"/>
                </a:solidFill>
              </a:rPr>
              <a:t>4.5 / 10  →  ELEVATED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180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Answers: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321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Is the market overvalued
vs. history?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463040"/>
            <a:ext cx="3566160" cy="4389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1463040"/>
            <a:ext cx="356616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A69A"/>
                </a:solidFill>
              </a:rPr>
              <a:t>CPI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Crash Probability Index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2377440"/>
            <a:ext cx="3291840" cy="27432"/>
          </a:xfrm>
          <a:prstGeom prst="rect">
            <a:avLst/>
          </a:prstGeom>
          <a:solidFill>
            <a:srgbClr val="363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468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Frequency: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Daily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9443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Scale: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944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0 – 100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41985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Indicators: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4198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12 indicators, 4 domains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89534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Domains: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8953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Volatility, Credit,
Breadth, Macro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370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Lead time: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43708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23–42 days before crashes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846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Current: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4846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A69A"/>
                </a:solidFill>
              </a:rPr>
              <a:t>23 / 100  →  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32180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Answers: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5321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Will the market crash
in the next 30 days?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1463040"/>
            <a:ext cx="3566160" cy="43891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1463040"/>
            <a:ext cx="3566160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800"/>
                </a:solidFill>
              </a:rPr>
              <a:t>TSI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B86"/>
                </a:solidFill>
              </a:rPr>
              <a:t>Tech Stress Index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2377440"/>
            <a:ext cx="3291840" cy="27432"/>
          </a:xfrm>
          <a:prstGeom prst="rect">
            <a:avLst/>
          </a:prstGeom>
          <a:solidFill>
            <a:srgbClr val="363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2468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Frequency: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2468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Daily update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29443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Scale: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2944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0 – 100 score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341985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Indicators: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34198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9 indicators, tech-focused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89534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Tracks: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38953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SOX, QQQ, yield shocks,
SMH/SPY relative strength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4370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Track record: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43708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4DC"/>
                </a:solidFill>
              </a:rPr>
              <a:t>7/7 tech stress events detected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4846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Current: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4846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800"/>
                </a:solidFill>
              </a:rPr>
              <a:t>45 / 100  →  CAUTIOUS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532180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B86"/>
                </a:solidFill>
              </a:rPr>
              <a:t>Answers: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5321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Is the tech sector under
stress right now?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5989320"/>
            <a:ext cx="64008" cy="59436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080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87B86"/>
                </a:solidFill>
              </a:rPr>
              <a:t>Combined Signal (Today):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0" y="60807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C948"/>
                </a:solidFill>
              </a:rPr>
              <a:t>⚡  CAUTIOUS HOLD  —  AVI elevated × CPI low × TSI cautious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B86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Claude Helped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457200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7B86"/>
                </a:solidFill>
              </a:rPr>
              <a:t>From idea to live product — using Claude Code as the co-builder throughout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94960" cy="14173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73152" cy="141732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27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C948"/>
                </a:solidFill>
              </a:rPr>
              <a:t>AVI V4 → V5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4DC"/>
                </a:solidFill>
              </a:rPr>
              <a:t>14 indicators × 6 dimensions
+ Markov Regime Engine (4-state HMM)
+ GARCH(1,1) volatility forecasting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5394960" cy="14173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72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A69A"/>
                </a:solidFill>
              </a:rPr>
              <a:t>CPI Engine (Crash Probability)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66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4DC"/>
                </a:solidFill>
              </a:rPr>
              <a:t>12-indicator daily crash prediction system
91% detection rate across 11 events
23–42 day lead time before crashes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5394960" cy="14173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73152" cy="14173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18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A5F5"/>
                </a:solidFill>
              </a:rPr>
              <a:t>TradingView 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120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4DC"/>
                </a:solidFill>
              </a:rPr>
              <a:t>Claude controls TradingView via Playwright
Generates Pine Script indicators automatically
Automates backtesting across 5 crises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417320"/>
            <a:ext cx="5394960" cy="14173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17320"/>
            <a:ext cx="73152" cy="1417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527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</a:rPr>
              <a:t>TSI Engine (Tech Stress)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920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4DC"/>
                </a:solidFill>
              </a:rPr>
              <a:t>9-indicator tech sector stress index
7/7 tech stress events detected
Yield shock + SOX/QQQ divergence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063240"/>
            <a:ext cx="5394960" cy="14173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063240"/>
            <a:ext cx="73152" cy="14173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172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A5F5"/>
                </a:solidFill>
              </a:rPr>
              <a:t>Interactive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566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4DC"/>
                </a:solidFill>
              </a:rPr>
              <a:t>Unified CPI + TSI + AVI V5 dashboard
Deployed on Cloudflare Workers
Bilingual EN/ZH, mobile-responsive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709160"/>
            <a:ext cx="5394960" cy="141732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709160"/>
            <a:ext cx="73152" cy="14173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4818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Research &amp; Knowledge Base (KIWI)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2120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1D4DC"/>
                </a:solidFill>
              </a:rPr>
              <a:t>AVI analysis, social media content,
scholar database, market analysis posts
Automated commit workflow with Claude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B86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Live Status &amp;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3200400" cy="3657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B86"/>
                </a:solidFill>
              </a:rPr>
              <a:t>Current Readings — 2026-05-20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291840" cy="146304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291840" cy="73152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C948"/>
                </a:solidFill>
              </a:rPr>
              <a:t>AVI 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7C948"/>
                </a:solidFill>
              </a:rPr>
              <a:t>ELEVATED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C948"/>
                </a:solidFill>
              </a:rPr>
              <a:t>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591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7B86"/>
                </a:solidFill>
              </a:rPr>
              <a:t>/10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463040"/>
            <a:ext cx="3291840" cy="146304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463040"/>
            <a:ext cx="329184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72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A69A"/>
                </a:solidFill>
              </a:rPr>
              <a:t>CPI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A69A"/>
                </a:solidFill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6A69A"/>
                </a:solidFill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3591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7B86"/>
                </a:solidFill>
              </a:rPr>
              <a:t>/100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463040"/>
            <a:ext cx="3291840" cy="146304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463040"/>
            <a:ext cx="329184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572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</a:rPr>
              <a:t>TSI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9800"/>
                </a:solidFill>
              </a:rPr>
              <a:t>CAUTIOUS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920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9800"/>
                </a:solidFill>
              </a:rPr>
              <a:t>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3591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7B86"/>
                </a:solidFill>
              </a:rPr>
              <a:t>/100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3152" cy="640080"/>
          </a:xfrm>
          <a:prstGeom prst="rect">
            <a:avLst/>
          </a:prstGeom>
          <a:solidFill>
            <a:srgbClr val="F7C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1821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7B86"/>
                </a:solidFill>
              </a:rPr>
              <a:t>Combined Signal: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18211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C948"/>
                </a:solidFill>
              </a:rPr>
              <a:t>CAUTIOUS HOLD  ·  Hold positions · Raise 20–25% cash · Watch for TSI&gt;55 or CPI&gt;35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86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B86"/>
                </a:solidFill>
              </a:rPr>
              <a:t>Market Snapshot — S&amp;P 500 at 7,300+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51960"/>
            <a:ext cx="3474720" cy="713232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S&amp;P 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544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6A69A"/>
                </a:solidFill>
              </a:rPr>
              <a:t>7,300+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599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B86"/>
                </a:solidFill>
              </a:rPr>
              <a:t>+20% in 4wk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251960"/>
            <a:ext cx="3474720" cy="713232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15968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CAPE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4544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800"/>
                </a:solidFill>
              </a:rPr>
              <a:t>41.5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59" y="4599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B86"/>
                </a:solidFill>
              </a:rPr>
              <a:t>2nd highest ever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4251960"/>
            <a:ext cx="3474720" cy="713232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7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VIX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7" y="4544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C948"/>
                </a:solidFill>
              </a:rPr>
              <a:t>~19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599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B86"/>
                </a:solidFill>
              </a:rPr>
              <a:t>Near 20 threshold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93208"/>
            <a:ext cx="3474720" cy="713232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10Y Yield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3858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800"/>
                </a:solidFill>
              </a:rPr>
              <a:t>4.55%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5440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B86"/>
                </a:solidFill>
              </a:rPr>
              <a:t>+9bps · Year 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5093208"/>
            <a:ext cx="3474720" cy="713232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15968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30Y Yield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53858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5350"/>
                </a:solidFill>
              </a:rPr>
              <a:t>5.12%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59" y="5440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B86"/>
                </a:solidFill>
              </a:rPr>
              <a:t>2007-high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5093208"/>
            <a:ext cx="3474720" cy="713232"/>
          </a:xfrm>
          <a:prstGeom prst="rect">
            <a:avLst/>
          </a:prstGeom>
          <a:solidFill>
            <a:srgbClr val="1E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5007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B86"/>
                </a:solidFill>
              </a:rPr>
              <a:t>Brent Oil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5007" y="53858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800"/>
                </a:solidFill>
              </a:rPr>
              <a:t>$108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440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B86"/>
                </a:solidFill>
              </a:rPr>
              <a:t>Iran risk premium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309360"/>
            <a:ext cx="11247120" cy="27432"/>
          </a:xfrm>
          <a:prstGeom prst="rect">
            <a:avLst/>
          </a:prstGeom>
          <a:solidFill>
            <a:srgbClr val="363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3825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87B86"/>
                </a:solidFill>
              </a:rPr>
              <a:t>Dashboard: line-companion.jake-cz-jian.workers.dev  ·  Built with Claude Code  ·  Not financial advice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B86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