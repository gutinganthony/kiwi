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17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1E22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2A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589520" y="292608"/>
            <a:ext cx="4297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787B86"/>
                </a:solidFill>
              </a:rPr>
              <a:t>PA TEAM · 月度市場回顧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3444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D1D4DC"/>
                </a:solidFill>
              </a:rPr>
              <a:t>市場四週回顧與展望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2860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42A5F5"/>
                </a:solidFill>
              </a:rPr>
              <a:t>AI 盈餘牛市  ×  油價衝擊  ×  聯儲鷹派轉向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3063240"/>
            <a:ext cx="4114800" cy="45720"/>
          </a:xfrm>
          <a:prstGeom prst="rect">
            <a:avLst/>
          </a:prstGeom>
          <a:solidFill>
            <a:srgbClr val="42A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32918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D1D4DC"/>
                </a:solidFill>
              </a:rPr>
              <a:t>彙整期間：2026/06/02 – 06/25     ·     12 份每日晨會重點摘要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7033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787B86"/>
                </a:solidFill>
              </a:rPr>
              <a:t>來源：Goldman Sachs · Morgan Stanley · Deutsche Bank · Citi · BofA · Bloomberg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4343400"/>
            <a:ext cx="2103120" cy="777240"/>
          </a:xfrm>
          <a:prstGeom prst="rect">
            <a:avLst/>
          </a:prstGeom>
          <a:solidFill>
            <a:srgbClr val="1E22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68680" y="4343400"/>
            <a:ext cx="73152" cy="777240"/>
          </a:xfrm>
          <a:prstGeom prst="rect">
            <a:avLst/>
          </a:prstGeom>
          <a:solidFill>
            <a:srgbClr val="F7C9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33272" y="4407408"/>
            <a:ext cx="1920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7C948"/>
                </a:solidFill>
              </a:rPr>
              <a:t>AI 牛市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" y="4773168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87B86"/>
                </a:solidFill>
              </a:rPr>
              <a:t>盈餘驅動 · 中場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0" y="4343400"/>
            <a:ext cx="2103120" cy="777240"/>
          </a:xfrm>
          <a:prstGeom prst="rect">
            <a:avLst/>
          </a:prstGeom>
          <a:solidFill>
            <a:srgbClr val="1E22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200400" y="4343400"/>
            <a:ext cx="73152" cy="777240"/>
          </a:xfrm>
          <a:prstGeom prst="rect">
            <a:avLst/>
          </a:prstGeom>
          <a:solidFill>
            <a:srgbClr val="FF9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64992" y="4407408"/>
            <a:ext cx="1920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9800"/>
                </a:solidFill>
              </a:rPr>
              <a:t>通膨 / 油價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64992" y="4773168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87B86"/>
                </a:solidFill>
              </a:rPr>
              <a:t>Iran · Hormuz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532120" y="4343400"/>
            <a:ext cx="2103120" cy="777240"/>
          </a:xfrm>
          <a:prstGeom prst="rect">
            <a:avLst/>
          </a:prstGeom>
          <a:solidFill>
            <a:srgbClr val="1E22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532120" y="4343400"/>
            <a:ext cx="73152" cy="777240"/>
          </a:xfrm>
          <a:prstGeom prst="rect">
            <a:avLst/>
          </a:prstGeom>
          <a:solidFill>
            <a:srgbClr val="EF53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96712" y="4407408"/>
            <a:ext cx="1920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EF5350"/>
                </a:solidFill>
              </a:rPr>
              <a:t>聯儲鷹派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96712" y="4773168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87B86"/>
                </a:solidFill>
              </a:rPr>
              <a:t>10月加息定價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5669280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787B86"/>
                </a:solidFill>
              </a:rPr>
              <a:t>一句話：基本面（盈餘）仍穩，但宏觀（通膨＋利率）轉向——市場在「相信 AI 敘事」與「預期透支」之間拉鋸。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17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2A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9184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 i="0">
                <a:solidFill>
                  <a:srgbClr val="D1D4DC"/>
                </a:solidFill>
              </a:rPr>
              <a:t>四週敘事主軸：從油價衝擊到鷹派轉向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32688"/>
            <a:ext cx="11338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787B86"/>
                </a:solidFill>
              </a:rPr>
              <a:t>一條主線串起 12 份報告 — 盈餘牛市撞上滯脹隱憂與聯儲轉向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4114800" cy="41148"/>
          </a:xfrm>
          <a:prstGeom prst="rect">
            <a:avLst/>
          </a:prstGeom>
          <a:solidFill>
            <a:srgbClr val="42A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64592" cy="164592"/>
          </a:xfrm>
          <a:prstGeom prst="rect">
            <a:avLst/>
          </a:prstGeom>
          <a:solidFill>
            <a:srgbClr val="42A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8076" y="1828800"/>
            <a:ext cx="45720" cy="448056"/>
          </a:xfrm>
          <a:prstGeom prst="rect">
            <a:avLst/>
          </a:prstGeom>
          <a:solidFill>
            <a:srgbClr val="2A2E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581912"/>
            <a:ext cx="1051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2A5F5"/>
                </a:solidFill>
              </a:rPr>
              <a:t>6/02–04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65960" y="1581912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D1D4DC"/>
                </a:solidFill>
              </a:rPr>
              <a:t>「1999 遇上 1990」：AI 熱潮撞上油價衝擊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65960" y="1892808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787B86"/>
                </a:solidFill>
              </a:rPr>
              <a:t>GS / DB 上調標普年底目標至 8000；通膨大幅上修、增長僅小修，央行被迫轉鷹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340864"/>
            <a:ext cx="164592" cy="164592"/>
          </a:xfrm>
          <a:prstGeom prst="rect">
            <a:avLst/>
          </a:prstGeom>
          <a:solidFill>
            <a:srgbClr val="EF53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8076" y="2505456"/>
            <a:ext cx="45720" cy="448056"/>
          </a:xfrm>
          <a:prstGeom prst="rect">
            <a:avLst/>
          </a:prstGeom>
          <a:solidFill>
            <a:srgbClr val="2A2E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258568"/>
            <a:ext cx="1051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F5350"/>
                </a:solidFill>
              </a:rPr>
              <a:t>6/05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65960" y="2258568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D1D4DC"/>
                </a:solidFill>
              </a:rPr>
              <a:t>科技重挫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65960" y="2569464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787B86"/>
                </a:solidFill>
              </a:rPr>
              <a:t>那斯達克 −4.18%、費半 −10.26%，逾兆美元市值蒸發，韓股盤中熔斷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3017520"/>
            <a:ext cx="164592" cy="164592"/>
          </a:xfrm>
          <a:prstGeom prst="rect">
            <a:avLst/>
          </a:prstGeom>
          <a:solidFill>
            <a:srgbClr val="26A6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08076" y="3182112"/>
            <a:ext cx="45720" cy="448056"/>
          </a:xfrm>
          <a:prstGeom prst="rect">
            <a:avLst/>
          </a:prstGeom>
          <a:solidFill>
            <a:srgbClr val="2A2E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2935224"/>
            <a:ext cx="1051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6A69A"/>
                </a:solidFill>
              </a:rPr>
              <a:t>6/09–11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65960" y="2935224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D1D4DC"/>
                </a:solidFill>
              </a:rPr>
              <a:t>「健康調整」非見頂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65960" y="3246120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787B86"/>
                </a:solidFill>
              </a:rPr>
              <a:t>強勁就業推升加息預期、CPI 料見頂；大摩定調為部位去化，惟流動性指標轉緊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3694176"/>
            <a:ext cx="164592" cy="164592"/>
          </a:xfrm>
          <a:prstGeom prst="rect">
            <a:avLst/>
          </a:prstGeom>
          <a:solidFill>
            <a:srgbClr val="FF9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08076" y="3858768"/>
            <a:ext cx="45720" cy="448056"/>
          </a:xfrm>
          <a:prstGeom prst="rect">
            <a:avLst/>
          </a:prstGeom>
          <a:solidFill>
            <a:srgbClr val="2A2E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3611880"/>
            <a:ext cx="1051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9800"/>
                </a:solidFill>
              </a:rPr>
              <a:t>6/16–17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965960" y="36118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D1D4DC"/>
                </a:solidFill>
              </a:rPr>
              <a:t>美伊臨時協議 + 大型科技去擁擠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65960" y="3922776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787B86"/>
                </a:solidFill>
              </a:rPr>
              <a:t>Hormuz 重啟在望，布倫特跌破 84；大型科技倉位由 97→48 百分位回到中性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4370832"/>
            <a:ext cx="164592" cy="164592"/>
          </a:xfrm>
          <a:prstGeom prst="rect">
            <a:avLst/>
          </a:prstGeom>
          <a:solidFill>
            <a:srgbClr val="F7C9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08076" y="4535424"/>
            <a:ext cx="45720" cy="448056"/>
          </a:xfrm>
          <a:prstGeom prst="rect">
            <a:avLst/>
          </a:prstGeom>
          <a:solidFill>
            <a:srgbClr val="2A2E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8680" y="4288536"/>
            <a:ext cx="1051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7C948"/>
                </a:solidFill>
              </a:rPr>
              <a:t>6/18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965960" y="4288536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D1D4DC"/>
                </a:solidFill>
              </a:rPr>
              <a:t>擁擠度創歷史新高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965960" y="4599432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787B86"/>
                </a:solidFill>
              </a:rPr>
              <a:t>做多半導體＝史上最擁擠交易（80%）；現金升至 4.1%，「AI 泡沫」成首要尾部風險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8640" y="5047488"/>
            <a:ext cx="164592" cy="164592"/>
          </a:xfrm>
          <a:prstGeom prst="rect">
            <a:avLst/>
          </a:prstGeom>
          <a:solidFill>
            <a:srgbClr val="EF53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8076" y="5212080"/>
            <a:ext cx="45720" cy="448056"/>
          </a:xfrm>
          <a:prstGeom prst="rect">
            <a:avLst/>
          </a:prstGeom>
          <a:solidFill>
            <a:srgbClr val="2A2E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68680" y="4965192"/>
            <a:ext cx="1051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F5350"/>
                </a:solidFill>
              </a:rPr>
              <a:t>6/24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965960" y="4965192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D1D4DC"/>
                </a:solidFill>
              </a:rPr>
              <a:t>FOMC 鷹派轉向（沃什首秀）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65960" y="5276088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787B86"/>
                </a:solidFill>
              </a:rPr>
              <a:t>點陣圖 18 人中 9 人指向加息；首次加息預期由 2027/3 提前至 2026/10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48640" y="5724144"/>
            <a:ext cx="164592" cy="164592"/>
          </a:xfrm>
          <a:prstGeom prst="rect">
            <a:avLst/>
          </a:prstGeom>
          <a:solidFill>
            <a:srgbClr val="7C4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68680" y="5641848"/>
            <a:ext cx="1051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7C4DFF"/>
                </a:solidFill>
              </a:rPr>
              <a:t>6/25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965960" y="5641848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D1D4DC"/>
                </a:solidFill>
              </a:rPr>
              <a:t>資產配置防禦微調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965960" y="5952744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787B86"/>
                </a:solidFill>
              </a:rPr>
              <a:t>大摩維持美股超配（標普 8300）、歐洲能源降至中性、偏好中期美債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09560" y="1600200"/>
            <a:ext cx="3840480" cy="4572000"/>
          </a:xfrm>
          <a:prstGeom prst="rect">
            <a:avLst/>
          </a:prstGeom>
          <a:solidFill>
            <a:srgbClr val="1E22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909560" y="1600200"/>
            <a:ext cx="73152" cy="4572000"/>
          </a:xfrm>
          <a:prstGeom prst="rect">
            <a:avLst/>
          </a:prstGeom>
          <a:solidFill>
            <a:srgbClr val="7C4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138160" y="173736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7C4DFF"/>
                </a:solidFill>
              </a:rPr>
              <a:t>核心張力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138160" y="2240280"/>
            <a:ext cx="3383280" cy="27432"/>
          </a:xfrm>
          <a:prstGeom prst="rect">
            <a:avLst/>
          </a:prstGeom>
          <a:solidFill>
            <a:srgbClr val="2A2E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138160" y="242316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6A69A"/>
                </a:solidFill>
              </a:rPr>
              <a:t>撐盤的力量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38160" y="2752344"/>
            <a:ext cx="3383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87B86"/>
                </a:solidFill>
              </a:rPr>
              <a:t>Q1 盈餘超共識 13%；AI 資本開支超級週期；資金強勁流入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38160" y="3721608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F5350"/>
                </a:solidFill>
              </a:rPr>
              <a:t>壓頂的力量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38160" y="4050792"/>
            <a:ext cx="3383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87B86"/>
                </a:solidFill>
              </a:rPr>
              <a:t>油價推升通膨、聯儲轉鷹、10Y 利率逼近紅線、估值與擁擠創高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138160" y="5020056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7C948"/>
                </a:solidFill>
              </a:rPr>
              <a:t>勝負手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138160" y="5349240"/>
            <a:ext cx="3383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87B86"/>
                </a:solidFill>
              </a:rPr>
              <a:t>油價能否壓 CPI 回 3% 以下：花旗降息劇本 vs 美銀滯脹劇本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17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6A6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9184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 i="0">
                <a:solidFill>
                  <a:srgbClr val="D1D4DC"/>
                </a:solidFill>
              </a:rPr>
              <a:t>五大主題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32688"/>
            <a:ext cx="11338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787B86"/>
                </a:solidFill>
              </a:rPr>
              <a:t>貫穿四週的結構性力量，彼此交織、互為因果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4114800" cy="41148"/>
          </a:xfrm>
          <a:prstGeom prst="rect">
            <a:avLst/>
          </a:prstGeom>
          <a:solidFill>
            <a:srgbClr val="26A6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572768"/>
            <a:ext cx="11274552" cy="896112"/>
          </a:xfrm>
          <a:prstGeom prst="rect">
            <a:avLst/>
          </a:prstGeom>
          <a:solidFill>
            <a:srgbClr val="1E22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72768"/>
            <a:ext cx="73152" cy="896112"/>
          </a:xfrm>
          <a:prstGeom prst="rect">
            <a:avLst/>
          </a:prstGeom>
          <a:solidFill>
            <a:srgbClr val="F7C9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682496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7C948"/>
                </a:solidFill>
              </a:rPr>
              <a:t>①  AI 牛市：中場、盈餘驅動、窗口收窄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2048256"/>
            <a:ext cx="10881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787B86"/>
                </a:solidFill>
              </a:rPr>
              <a:t>盈餘上修撐盤（非估值擴張），但「容錯率極低」；AI 股已佔標普 500 權重 39%，下行風險不對稱。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523744"/>
            <a:ext cx="11274552" cy="896112"/>
          </a:xfrm>
          <a:prstGeom prst="rect">
            <a:avLst/>
          </a:prstGeom>
          <a:solidFill>
            <a:srgbClr val="1E22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523744"/>
            <a:ext cx="73152" cy="896112"/>
          </a:xfrm>
          <a:prstGeom prst="rect">
            <a:avLst/>
          </a:prstGeom>
          <a:solidFill>
            <a:srgbClr val="EF53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2633472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EF5350"/>
                </a:solidFill>
              </a:rPr>
              <a:t>②  宏觀轉向：通膨再加速 × 聯儲鷹派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" y="2999232"/>
            <a:ext cx="10881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787B86"/>
                </a:solidFill>
              </a:rPr>
              <a:t>增長小修、通膨大修；FOMC 點陣圖轉鷹、市場定價 10 月加息；核心之辯：1996 生產率紅利 vs 1999 需求過熱。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474720"/>
            <a:ext cx="11274552" cy="896112"/>
          </a:xfrm>
          <a:prstGeom prst="rect">
            <a:avLst/>
          </a:prstGeom>
          <a:solidFill>
            <a:srgbClr val="1E22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474720"/>
            <a:ext cx="73152" cy="896112"/>
          </a:xfrm>
          <a:prstGeom prst="rect">
            <a:avLst/>
          </a:prstGeom>
          <a:solidFill>
            <a:srgbClr val="FF9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232" y="3584448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9800"/>
                </a:solidFill>
              </a:rPr>
              <a:t>③  油價＝總開關（地緣 / Hormuz）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" y="3950208"/>
            <a:ext cx="10881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787B86"/>
                </a:solidFill>
              </a:rPr>
              <a:t>Iran 戰爭推升通膨；基準布倫特 86、事故情境 150；6/16 臨時協議後跌破 84。油價走向牽動全局。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425696"/>
            <a:ext cx="11274552" cy="896112"/>
          </a:xfrm>
          <a:prstGeom prst="rect">
            <a:avLst/>
          </a:prstGeom>
          <a:solidFill>
            <a:srgbClr val="1E22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4425696"/>
            <a:ext cx="73152" cy="896112"/>
          </a:xfrm>
          <a:prstGeom prst="rect">
            <a:avLst/>
          </a:prstGeom>
          <a:solidFill>
            <a:srgbClr val="42A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13232" y="4535424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42A5F5"/>
                </a:solidFill>
              </a:rPr>
              <a:t>④  利率＝股市紅線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3232" y="4901184"/>
            <a:ext cx="10881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787B86"/>
                </a:solidFill>
              </a:rPr>
              <a:t>GS 視 10 年期美債 5% 為紅線，尚未觸及但為下半年關鍵變數；曲線熊平、財政赤字達 GDP 6.6%。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5376672"/>
            <a:ext cx="11274552" cy="896112"/>
          </a:xfrm>
          <a:prstGeom prst="rect">
            <a:avLst/>
          </a:prstGeom>
          <a:solidFill>
            <a:srgbClr val="1E22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5376672"/>
            <a:ext cx="73152" cy="896112"/>
          </a:xfrm>
          <a:prstGeom prst="rect">
            <a:avLst/>
          </a:prstGeom>
          <a:solidFill>
            <a:srgbClr val="26A6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3232" y="548640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6A69A"/>
                </a:solidFill>
              </a:rPr>
              <a:t>⑤  部位與廣度：去擁擠、輪動、流動性收緊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3232" y="5852160"/>
            <a:ext cx="10881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787B86"/>
                </a:solidFill>
              </a:rPr>
              <a:t>6/5 為大型科技去擁擠（非見頂），非科技倉位低、輪動基礎仍在；惟流動性領先指標轉緊、紀錄資金流入＝反向警訊。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17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9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9184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 i="0">
                <a:solidFill>
                  <a:srgbClr val="D1D4DC"/>
                </a:solidFill>
              </a:rPr>
              <a:t>區域分化與市場溫度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32688"/>
            <a:ext cx="11338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787B86"/>
                </a:solidFill>
              </a:rPr>
              <a:t>誰在領跑、誰在承壓，以及情緒與擁擠度的讀數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4114800" cy="41148"/>
          </a:xfrm>
          <a:prstGeom prst="rect">
            <a:avLst/>
          </a:prstGeom>
          <a:solidFill>
            <a:srgbClr val="FF9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50876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D1D4DC"/>
                </a:solidFill>
              </a:rPr>
              <a:t>區域分化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938528"/>
            <a:ext cx="6126480" cy="749808"/>
          </a:xfrm>
          <a:prstGeom prst="rect">
            <a:avLst/>
          </a:prstGeom>
          <a:solidFill>
            <a:srgbClr val="1E22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938528"/>
            <a:ext cx="73152" cy="749808"/>
          </a:xfrm>
          <a:prstGeom prst="rect">
            <a:avLst/>
          </a:prstGeom>
          <a:solidFill>
            <a:srgbClr val="26A6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2029968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6A69A"/>
                </a:solidFill>
              </a:rPr>
              <a:t>美國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2350008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787B86"/>
                </a:solidFill>
              </a:rPr>
              <a:t>最具韌性：盈餘＋設備投資穩；惟估值與擁擠度偏高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779776"/>
            <a:ext cx="6126480" cy="749808"/>
          </a:xfrm>
          <a:prstGeom prst="rect">
            <a:avLst/>
          </a:prstGeom>
          <a:solidFill>
            <a:srgbClr val="1E22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779776"/>
            <a:ext cx="73152" cy="749808"/>
          </a:xfrm>
          <a:prstGeom prst="rect">
            <a:avLst/>
          </a:prstGeom>
          <a:solidFill>
            <a:srgbClr val="26A6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3232" y="2871216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6A69A"/>
                </a:solidFill>
              </a:rPr>
              <a:t>亞洲（除日）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" y="3191256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787B86"/>
                </a:solidFill>
              </a:rPr>
              <a:t>強勢：韓國最佳，晶片超級週期，MSCI 韓股僅 7.2x，IT EPS 翻倍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621024"/>
            <a:ext cx="6126480" cy="749808"/>
          </a:xfrm>
          <a:prstGeom prst="rect">
            <a:avLst/>
          </a:prstGeom>
          <a:solidFill>
            <a:srgbClr val="1E22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3621024"/>
            <a:ext cx="73152" cy="749808"/>
          </a:xfrm>
          <a:prstGeom prst="rect">
            <a:avLst/>
          </a:prstGeom>
          <a:solidFill>
            <a:srgbClr val="FF9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3232" y="3712464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9800"/>
                </a:solidFill>
              </a:rPr>
              <a:t>日本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" y="4032504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787B86"/>
                </a:solidFill>
              </a:rPr>
              <a:t>被油價改寫：能源進口逆風，日圓貶至 161.8（2024/7 以來最低）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462272"/>
            <a:ext cx="6126480" cy="749808"/>
          </a:xfrm>
          <a:prstGeom prst="rect">
            <a:avLst/>
          </a:prstGeom>
          <a:solidFill>
            <a:srgbClr val="1E22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4462272"/>
            <a:ext cx="73152" cy="749808"/>
          </a:xfrm>
          <a:prstGeom prst="rect">
            <a:avLst/>
          </a:prstGeom>
          <a:solidFill>
            <a:srgbClr val="EF53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3232" y="4553712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F5350"/>
                </a:solidFill>
              </a:rPr>
              <a:t>歐洲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" y="4873752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787B86"/>
                </a:solidFill>
              </a:rPr>
              <a:t>最弱：近技術性衰退，服務業 PMI 走弱，2026 GDP 僅 0.5%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5303520"/>
            <a:ext cx="6126480" cy="749808"/>
          </a:xfrm>
          <a:prstGeom prst="rect">
            <a:avLst/>
          </a:prstGeom>
          <a:solidFill>
            <a:srgbClr val="1E22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5303520"/>
            <a:ext cx="73152" cy="749808"/>
          </a:xfrm>
          <a:prstGeom prst="rect">
            <a:avLst/>
          </a:prstGeom>
          <a:solidFill>
            <a:srgbClr val="787B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13232" y="539496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787B86"/>
                </a:solidFill>
              </a:rPr>
              <a:t>中國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5715000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787B86"/>
                </a:solidFill>
              </a:rPr>
              <a:t>資金持續流出（連 11 週）；市場廣度較優但集中度仍高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812280" y="1600200"/>
            <a:ext cx="4919472" cy="4572000"/>
          </a:xfrm>
          <a:prstGeom prst="rect">
            <a:avLst/>
          </a:prstGeom>
          <a:solidFill>
            <a:srgbClr val="1E22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40880" y="17373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787B86"/>
                </a:solidFill>
              </a:rPr>
              <a:t>市場溫度 · 情緒與擁擠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013448" y="2194560"/>
            <a:ext cx="4526280" cy="27432"/>
          </a:xfrm>
          <a:prstGeom prst="rect">
            <a:avLst/>
          </a:prstGeom>
          <a:solidFill>
            <a:srgbClr val="2A2E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013448" y="2331720"/>
            <a:ext cx="4526280" cy="566928"/>
          </a:xfrm>
          <a:prstGeom prst="rect">
            <a:avLst/>
          </a:prstGeom>
          <a:solidFill>
            <a:srgbClr val="2A2E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104888" y="2404872"/>
            <a:ext cx="1325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F7C948"/>
                </a:solidFill>
              </a:rPr>
              <a:t>39%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03920" y="2468880"/>
            <a:ext cx="3017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87B86"/>
                </a:solidFill>
              </a:rPr>
              <a:t>AI 股佔標普 500 權重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013448" y="2953512"/>
            <a:ext cx="4526280" cy="566928"/>
          </a:xfrm>
          <a:prstGeom prst="rect">
            <a:avLst/>
          </a:prstGeom>
          <a:solidFill>
            <a:srgbClr val="1E22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104888" y="3026664"/>
            <a:ext cx="1325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FF9800"/>
                </a:solidFill>
              </a:rPr>
              <a:t>80%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03920" y="3090672"/>
            <a:ext cx="3017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87B86"/>
                </a:solidFill>
              </a:rPr>
              <a:t>做多半導體＝史上最擁擠交易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013448" y="3575304"/>
            <a:ext cx="4526280" cy="566928"/>
          </a:xfrm>
          <a:prstGeom prst="rect">
            <a:avLst/>
          </a:prstGeom>
          <a:solidFill>
            <a:srgbClr val="2A2E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104888" y="3648456"/>
            <a:ext cx="1325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EF5350"/>
                </a:solidFill>
              </a:rPr>
              <a:t>9.2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03920" y="3712464"/>
            <a:ext cx="3017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87B86"/>
                </a:solidFill>
              </a:rPr>
              <a:t>美銀牛熊指標（深入「賣出」區）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013448" y="4197096"/>
            <a:ext cx="4526280" cy="566928"/>
          </a:xfrm>
          <a:prstGeom prst="rect">
            <a:avLst/>
          </a:prstGeom>
          <a:solidFill>
            <a:srgbClr val="1E22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104888" y="4270248"/>
            <a:ext cx="1325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42A5F5"/>
                </a:solidFill>
              </a:rPr>
              <a:t>4.1%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503920" y="4334256"/>
            <a:ext cx="3017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87B86"/>
                </a:solidFill>
              </a:rPr>
              <a:t>平均現金水位（防禦升高）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013448" y="4818888"/>
            <a:ext cx="4526280" cy="566928"/>
          </a:xfrm>
          <a:prstGeom prst="rect">
            <a:avLst/>
          </a:prstGeom>
          <a:solidFill>
            <a:srgbClr val="2A2E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104888" y="4892040"/>
            <a:ext cx="1325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7C4DFF"/>
                </a:solidFill>
              </a:rPr>
              <a:t>$119bn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503920" y="4956048"/>
            <a:ext cx="3017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87B86"/>
                </a:solidFill>
              </a:rPr>
              <a:t>美股單週淨流入（紀錄·反向訊號）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013448" y="5440680"/>
            <a:ext cx="4526280" cy="566928"/>
          </a:xfrm>
          <a:prstGeom prst="rect">
            <a:avLst/>
          </a:prstGeom>
          <a:solidFill>
            <a:srgbClr val="1E22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104888" y="5513832"/>
            <a:ext cx="1325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26A69A"/>
                </a:solidFill>
              </a:rPr>
              <a:t>28%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03920" y="5577840"/>
            <a:ext cx="3017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87B86"/>
                </a:solidFill>
              </a:rPr>
              <a:t>視「AI 泡沫」為最大尾部風險（5 月僅 5%）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17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7C4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9184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 i="0">
                <a:solidFill>
                  <a:srgbClr val="D1D4DC"/>
                </a:solidFill>
              </a:rPr>
              <a:t>結論與資產配置建議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32688"/>
            <a:ext cx="11338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787B86"/>
                </a:solidFill>
              </a:rPr>
              <a:t>綜合 GS / MS / DB / Citi / BofA / Bloomberg 觀點之整合視角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4114800" cy="41148"/>
          </a:xfrm>
          <a:prstGeom prst="rect">
            <a:avLst/>
          </a:prstGeom>
          <a:solidFill>
            <a:srgbClr val="7C4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517904"/>
            <a:ext cx="11274552" cy="841248"/>
          </a:xfrm>
          <a:prstGeom prst="rect">
            <a:avLst/>
          </a:prstGeom>
          <a:solidFill>
            <a:srgbClr val="1E22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17904"/>
            <a:ext cx="73152" cy="841248"/>
          </a:xfrm>
          <a:prstGeom prst="rect">
            <a:avLst/>
          </a:prstGeom>
          <a:solidFill>
            <a:srgbClr val="7C4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591056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D1D4DC"/>
                </a:solidFill>
              </a:rPr>
              <a:t>結論：維持「建設性、但防禦微調」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1956816"/>
            <a:ext cx="10881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787B86"/>
                </a:solidFill>
              </a:rPr>
              <a:t>在盈餘可見度高處增持、主動降低集中與槓桿、提高現金緩衝；油價與利率是兩大搖擺因子，緊盯油價能否壓 CPI 回 3% 以下與 10Y 是否逼近 5%。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542032"/>
            <a:ext cx="3630168" cy="3611880"/>
          </a:xfrm>
          <a:prstGeom prst="rect">
            <a:avLst/>
          </a:prstGeom>
          <a:solidFill>
            <a:srgbClr val="1E22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542032"/>
            <a:ext cx="73152" cy="3611880"/>
          </a:xfrm>
          <a:prstGeom prst="rect">
            <a:avLst/>
          </a:prstGeom>
          <a:solidFill>
            <a:srgbClr val="26A6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688336"/>
            <a:ext cx="335584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6A69A"/>
                </a:solidFill>
              </a:rPr>
              <a:t>▲  增持 OVERWEIGHT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3163824"/>
            <a:ext cx="3227832" cy="27432"/>
          </a:xfrm>
          <a:prstGeom prst="rect">
            <a:avLst/>
          </a:prstGeom>
          <a:solidFill>
            <a:srgbClr val="2A2E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3319272"/>
            <a:ext cx="326440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D1D4DC"/>
                </a:solidFill>
              </a:rPr>
              <a:t>·  美股（品質 / 盈餘）：金融 · 工業 · 醫療，廣度外擴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3995928"/>
            <a:ext cx="326440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D1D4DC"/>
                </a:solidFill>
              </a:rPr>
              <a:t>·  亞洲（除日）/ 韓國：晶片週期 + 低估值重估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4672584"/>
            <a:ext cx="326440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D1D4DC"/>
                </a:solidFill>
              </a:rPr>
              <a:t>·  中期美債：殖利率年底回落，carry + 防禦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5349240"/>
            <a:ext cx="326440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D1D4DC"/>
                </a:solidFill>
              </a:rPr>
              <a:t>·  新興市場低波動、高股息個股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79391" y="2542032"/>
            <a:ext cx="3630168" cy="3611880"/>
          </a:xfrm>
          <a:prstGeom prst="rect">
            <a:avLst/>
          </a:prstGeom>
          <a:solidFill>
            <a:srgbClr val="1E22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79391" y="2542032"/>
            <a:ext cx="73152" cy="3611880"/>
          </a:xfrm>
          <a:prstGeom prst="rect">
            <a:avLst/>
          </a:prstGeom>
          <a:solidFill>
            <a:srgbClr val="EF53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80559" y="2688336"/>
            <a:ext cx="335584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F5350"/>
                </a:solidFill>
              </a:rPr>
              <a:t>▼  減持 UNDERWEIGHT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480559" y="3163824"/>
            <a:ext cx="3227832" cy="27432"/>
          </a:xfrm>
          <a:prstGeom prst="rect">
            <a:avLst/>
          </a:prstGeom>
          <a:solidFill>
            <a:srgbClr val="2A2E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80559" y="3319272"/>
            <a:ext cx="326440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D1D4DC"/>
                </a:solidFill>
              </a:rPr>
              <a:t>·  擁擠的大型科技 / 半導體集中部位（降槓桿）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80559" y="3995928"/>
            <a:ext cx="326440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D1D4DC"/>
                </a:solidFill>
              </a:rPr>
              <a:t>·  長天期債券：熊陡風險，10Y 逼近 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80559" y="4672584"/>
            <a:ext cx="326440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D1D4DC"/>
                </a:solidFill>
              </a:rPr>
              <a:t>·  歐洲股票 / 信用：近技術性衰退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59" y="5349240"/>
            <a:ext cx="326440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D1D4DC"/>
                </a:solidFill>
              </a:rPr>
              <a:t>·  日圓 / 未對沖日股：結構性走弱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101582" y="2542032"/>
            <a:ext cx="3630168" cy="3611880"/>
          </a:xfrm>
          <a:prstGeom prst="rect">
            <a:avLst/>
          </a:prstGeom>
          <a:solidFill>
            <a:srgbClr val="1E22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101582" y="2542032"/>
            <a:ext cx="73152" cy="3611880"/>
          </a:xfrm>
          <a:prstGeom prst="rect">
            <a:avLst/>
          </a:prstGeom>
          <a:solidFill>
            <a:srgbClr val="F7C9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02750" y="2688336"/>
            <a:ext cx="335584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7C948"/>
                </a:solidFill>
              </a:rPr>
              <a:t>●  中性 / 戰術 NEUTRAL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302750" y="3163824"/>
            <a:ext cx="3227832" cy="27432"/>
          </a:xfrm>
          <a:prstGeom prst="rect">
            <a:avLst/>
          </a:prstGeom>
          <a:solidFill>
            <a:srgbClr val="2A2E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02750" y="3319272"/>
            <a:ext cx="326440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D1D4DC"/>
                </a:solidFill>
              </a:rPr>
              <a:t>·  歐洲能源股：Hormuz 重啟 → 降至中性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02750" y="3995928"/>
            <a:ext cx="326440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D1D4DC"/>
                </a:solidFill>
              </a:rPr>
              <a:t>·  黃金：滯脹 / 地緣對沖，小幅配置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02750" y="4672584"/>
            <a:ext cx="326440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D1D4DC"/>
                </a:solidFill>
              </a:rPr>
              <a:t>·  現金：提高至 ~4%，保留乾火藥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02750" y="5349240"/>
            <a:ext cx="326440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D1D4DC"/>
                </a:solidFill>
              </a:rPr>
              <a:t>·  波動率資產：適度配置以防尾部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63550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787B86"/>
                </a:solidFill>
              </a:rPr>
              <a:t>※ 配置觀點為彙整各投行研究之整合，非個別投資建議；花旗 / 大摩對聯儲路徑（仍見降息）與多數機構（轉向加息）存在分歧，請依自身風險屬性判讀。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17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7C9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9184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 i="0">
                <a:solidFill>
                  <a:srgbClr val="D1D4DC"/>
                </a:solidFill>
              </a:rPr>
              <a:t>下一步：關鍵觀察點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32688"/>
            <a:ext cx="11338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787B86"/>
                </a:solidFill>
              </a:rPr>
              <a:t>決定劇本走向（1996 軟著陸 vs 1999 過熱）的六個變數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4114800" cy="41148"/>
          </a:xfrm>
          <a:prstGeom prst="rect">
            <a:avLst/>
          </a:prstGeom>
          <a:solidFill>
            <a:srgbClr val="F7C9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691640"/>
            <a:ext cx="3630168" cy="1938528"/>
          </a:xfrm>
          <a:prstGeom prst="rect">
            <a:avLst/>
          </a:prstGeom>
          <a:solidFill>
            <a:srgbClr val="1E22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691640"/>
            <a:ext cx="73152" cy="1938528"/>
          </a:xfrm>
          <a:prstGeom prst="rect">
            <a:avLst/>
          </a:prstGeom>
          <a:solidFill>
            <a:srgbClr val="FF9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837944"/>
            <a:ext cx="335584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D1D4DC"/>
                </a:solidFill>
              </a:rPr>
              <a:t>🛢  油價 → CPI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404872"/>
            <a:ext cx="326440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787B86"/>
                </a:solidFill>
              </a:rPr>
              <a:t>能否壓回 3% 以下？花旗降息劇本 vs 美銀滯脹劇本的勝負手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79391" y="1691640"/>
            <a:ext cx="3630168" cy="1938528"/>
          </a:xfrm>
          <a:prstGeom prst="rect">
            <a:avLst/>
          </a:prstGeom>
          <a:solidFill>
            <a:srgbClr val="1E22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79391" y="1691640"/>
            <a:ext cx="73152" cy="1938528"/>
          </a:xfrm>
          <a:prstGeom prst="rect">
            <a:avLst/>
          </a:prstGeom>
          <a:solidFill>
            <a:srgbClr val="EF53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0559" y="1837944"/>
            <a:ext cx="335584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D1D4DC"/>
                </a:solidFill>
              </a:rPr>
              <a:t>🏦  FOMC 路徑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59" y="2404872"/>
            <a:ext cx="326440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787B86"/>
                </a:solidFill>
              </a:rPr>
              <a:t>10 月加息已定價；美銀看年內 3 碼、德銀 2 碼，花旗逆勢看降息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01582" y="1691640"/>
            <a:ext cx="3630168" cy="1938528"/>
          </a:xfrm>
          <a:prstGeom prst="rect">
            <a:avLst/>
          </a:prstGeom>
          <a:solidFill>
            <a:srgbClr val="1E22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01582" y="1691640"/>
            <a:ext cx="73152" cy="1938528"/>
          </a:xfrm>
          <a:prstGeom prst="rect">
            <a:avLst/>
          </a:prstGeom>
          <a:solidFill>
            <a:srgbClr val="42A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02750" y="1837944"/>
            <a:ext cx="335584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D1D4DC"/>
                </a:solidFill>
              </a:rPr>
              <a:t>📈  10 年期美債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02750" y="2404872"/>
            <a:ext cx="326440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787B86"/>
                </a:solidFill>
              </a:rPr>
              <a:t>逼近 5% ＝股市紅線；曲線熊陡、財政赤字與長端供給壓力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813048"/>
            <a:ext cx="3630168" cy="1938528"/>
          </a:xfrm>
          <a:prstGeom prst="rect">
            <a:avLst/>
          </a:prstGeom>
          <a:solidFill>
            <a:srgbClr val="1E22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3813048"/>
            <a:ext cx="73152" cy="1938528"/>
          </a:xfrm>
          <a:prstGeom prst="rect">
            <a:avLst/>
          </a:prstGeom>
          <a:solidFill>
            <a:srgbClr val="F7C9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3959352"/>
            <a:ext cx="335584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D1D4DC"/>
                </a:solidFill>
              </a:rPr>
              <a:t>🤖  AI 盈餘 / 資本開支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4526280"/>
            <a:ext cx="326440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787B86"/>
                </a:solidFill>
              </a:rPr>
              <a:t>2027 雲廠商 capex 看破 1 兆；盈餘可持續性是估值關鍵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279391" y="3813048"/>
            <a:ext cx="3630168" cy="1938528"/>
          </a:xfrm>
          <a:prstGeom prst="rect">
            <a:avLst/>
          </a:prstGeom>
          <a:solidFill>
            <a:srgbClr val="1E22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79391" y="3813048"/>
            <a:ext cx="73152" cy="1938528"/>
          </a:xfrm>
          <a:prstGeom prst="rect">
            <a:avLst/>
          </a:prstGeom>
          <a:solidFill>
            <a:srgbClr val="7C4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80559" y="3959352"/>
            <a:ext cx="335584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D1D4DC"/>
                </a:solidFill>
              </a:rPr>
              <a:t>🌀  擁擠度去化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59" y="4526280"/>
            <a:ext cx="326440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787B86"/>
                </a:solidFill>
              </a:rPr>
              <a:t>做多半導體 / Mag 7 若鬆動，恐引發連鎖去槓桿與波動放大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101582" y="3813048"/>
            <a:ext cx="3630168" cy="1938528"/>
          </a:xfrm>
          <a:prstGeom prst="rect">
            <a:avLst/>
          </a:prstGeom>
          <a:solidFill>
            <a:srgbClr val="1E22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101582" y="3813048"/>
            <a:ext cx="73152" cy="1938528"/>
          </a:xfrm>
          <a:prstGeom prst="rect">
            <a:avLst/>
          </a:prstGeom>
          <a:solidFill>
            <a:srgbClr val="26A6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02750" y="3959352"/>
            <a:ext cx="335584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D1D4DC"/>
                </a:solidFill>
              </a:rPr>
              <a:t>🗳  政治 / 日圓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02750" y="4526280"/>
            <a:ext cx="326440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787B86"/>
                </a:solidFill>
              </a:rPr>
              <a:t>11 月中期選舉「股債匯三殺」風險；日圓 carry 平倉尾部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6144768"/>
            <a:ext cx="11274552" cy="566928"/>
          </a:xfrm>
          <a:prstGeom prst="rect">
            <a:avLst/>
          </a:prstGeom>
          <a:solidFill>
            <a:srgbClr val="2A2E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6254496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D1D4DC"/>
                </a:solidFill>
              </a:rPr>
              <a:t>底線：基本面仍穩，但市場容錯率低 —— 增持盈餘確定性、控制集中與槓桿，緊盯油價與利率兩大搖擺因子。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