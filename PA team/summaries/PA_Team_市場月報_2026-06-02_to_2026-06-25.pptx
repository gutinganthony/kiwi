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</p:sldIdLst>
  <p:sldSz cx="12192000" cy="6858000"/>
  <p:notesSz cx="6807200" cy="99393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朱立文43942" initials="朱立文43942" lastIdx="2" clrIdx="0">
    <p:extLst>
      <p:ext uri="{19B8F6BF-5375-455C-9EA6-DF929625EA0E}">
        <p15:presenceInfo xmlns:p15="http://schemas.microsoft.com/office/powerpoint/2012/main" userId="S-1-5-21-3192580919-598680264-2341286884-113567" providerId="AD"/>
      </p:ext>
    </p:extLst>
  </p:cmAuthor>
  <p:cmAuthor id="2" name="賴俊維" initials="賴俊維" lastIdx="1" clrIdx="1">
    <p:extLst>
      <p:ext uri="{19B8F6BF-5375-455C-9EA6-DF929625EA0E}">
        <p15:presenceInfo xmlns:p15="http://schemas.microsoft.com/office/powerpoint/2012/main" userId="S-1-5-21-3192580919-598680264-2341286884-22894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C9C8"/>
    <a:srgbClr val="977B3B"/>
    <a:srgbClr val="E1E5E8"/>
    <a:srgbClr val="255072"/>
    <a:srgbClr val="F9F7F1"/>
    <a:srgbClr val="FFFFFF"/>
    <a:srgbClr val="F0E9D9"/>
    <a:srgbClr val="7F7F7F"/>
    <a:srgbClr val="2B394E"/>
    <a:srgbClr val="235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5207" autoAdjust="0"/>
  </p:normalViewPr>
  <p:slideViewPr>
    <p:cSldViewPr snapToGrid="0" showGuides="1">
      <p:cViewPr varScale="1">
        <p:scale>
          <a:sx n="125" d="100"/>
          <a:sy n="125" d="100"/>
        </p:scale>
        <p:origin x="176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2184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5687" tIns="47844" rIns="95687" bIns="4784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5687" tIns="47844" rIns="95687" bIns="47844" rtlCol="0"/>
          <a:lstStyle>
            <a:lvl1pPr algn="r">
              <a:defRPr sz="1300"/>
            </a:lvl1pPr>
          </a:lstStyle>
          <a:p>
            <a:fld id="{E8AEBB65-8565-424A-B5E3-4358D1E6A74A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106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687" tIns="47844" rIns="95687" bIns="4784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5687" tIns="47844" rIns="95687" bIns="4784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5687" tIns="47844" rIns="95687" bIns="4784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5687" tIns="47844" rIns="95687" bIns="47844" rtlCol="0" anchor="b"/>
          <a:lstStyle>
            <a:lvl1pPr algn="r">
              <a:defRPr sz="1300"/>
            </a:lvl1pPr>
          </a:lstStyle>
          <a:p>
            <a:fld id="{C49A0EBF-6A85-4ADC-A02D-397B28B06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55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319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1BFCAD2C-1572-48C4-A5FC-B7044CAF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75" y="257111"/>
            <a:ext cx="10515600" cy="480131"/>
          </a:xfrm>
          <a:noFill/>
        </p:spPr>
        <p:txBody>
          <a:bodyPr wrap="square">
            <a:spAutoFit/>
          </a:bodyPr>
          <a:lstStyle>
            <a:lvl1pPr>
              <a:defRPr lang="zh-CN" altLang="en-US" sz="2800">
                <a:solidFill>
                  <a:srgbClr val="235173"/>
                </a:solidFill>
                <a:latin typeface="+mj-ea"/>
                <a:cs typeface="+mn-cs"/>
              </a:defRPr>
            </a:lvl1pPr>
          </a:lstStyle>
          <a:p>
            <a:pPr marL="0" lvl="0"/>
            <a:r>
              <a:rPr lang="zh-CN" altLang="en-US" dirty="0"/>
              <a:t>单击此处编辑母版标题样式</a:t>
            </a:r>
          </a:p>
        </p:txBody>
      </p:sp>
      <p:cxnSp>
        <p:nvCxnSpPr>
          <p:cNvPr id="7" name="直接连接符 2">
            <a:extLst>
              <a:ext uri="{FF2B5EF4-FFF2-40B4-BE49-F238E27FC236}">
                <a16:creationId xmlns:a16="http://schemas.microsoft.com/office/drawing/2014/main" id="{57C5E73F-3720-442E-A1C8-D0436074DA4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37880" y="758787"/>
            <a:ext cx="1151624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235173"/>
                </a:gs>
                <a:gs pos="85000">
                  <a:schemeClr val="accent5">
                    <a:lumMod val="20000"/>
                    <a:lumOff val="80000"/>
                  </a:schemeClr>
                </a:gs>
                <a:gs pos="39000">
                  <a:srgbClr val="6A7C8D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59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FD90F00C-0CB5-4739-9678-B00B8B84E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1775" y="6256916"/>
            <a:ext cx="7266982" cy="491429"/>
          </a:xfrm>
        </p:spPr>
        <p:txBody>
          <a:bodyPr>
            <a:normAutofit/>
          </a:bodyPr>
          <a:lstStyle>
            <a:lvl1pPr marL="342900" indent="-342900">
              <a:buNone/>
              <a:defRPr lang="zh-CN" altLang="en-US" sz="1100" b="1" kern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lvl="0" indent="-228600" algn="l" defTabSz="914400" rtl="0" eaLnBrk="1" latinLnBrk="0" hangingPunct="1">
              <a:buFont typeface="+mj-lt"/>
              <a:buAutoNum type="arabicPeriod"/>
            </a:pPr>
            <a:r>
              <a:rPr lang="zh-CN" altLang="en-US" dirty="0"/>
              <a:t>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7B9081EE-5225-40EA-BD85-B23FFD5D5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17" y="278656"/>
            <a:ext cx="10515600" cy="480131"/>
          </a:xfrm>
          <a:noFill/>
        </p:spPr>
        <p:txBody>
          <a:bodyPr wrap="square">
            <a:spAutoFit/>
          </a:bodyPr>
          <a:lstStyle>
            <a:lvl1pPr>
              <a:defRPr lang="zh-CN" altLang="en-US" sz="2800" dirty="0">
                <a:solidFill>
                  <a:srgbClr val="977B3B"/>
                </a:solidFill>
                <a:latin typeface="+mj-ea"/>
                <a:cs typeface="+mn-cs"/>
              </a:defRPr>
            </a:lvl1pPr>
          </a:lstStyle>
          <a:p>
            <a:pPr marL="0" lvl="0"/>
            <a:r>
              <a:rPr lang="zh-CN" altLang="en-US" dirty="0"/>
              <a:t>单击此处编辑母版标题样式</a:t>
            </a:r>
          </a:p>
        </p:txBody>
      </p:sp>
      <p:cxnSp>
        <p:nvCxnSpPr>
          <p:cNvPr id="6" name="直接连接符 2">
            <a:extLst>
              <a:ext uri="{FF2B5EF4-FFF2-40B4-BE49-F238E27FC236}">
                <a16:creationId xmlns:a16="http://schemas.microsoft.com/office/drawing/2014/main" id="{A56B4B4E-4273-44E3-AB3B-F576C1598C0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30017" y="904949"/>
            <a:ext cx="11516240" cy="0"/>
          </a:xfrm>
          <a:prstGeom prst="line">
            <a:avLst/>
          </a:prstGeom>
          <a:ln w="25400">
            <a:gradFill flip="none" rotWithShape="1">
              <a:gsLst>
                <a:gs pos="33000">
                  <a:srgbClr val="AB8D4B"/>
                </a:gs>
                <a:gs pos="0">
                  <a:srgbClr val="977B3B"/>
                </a:gs>
                <a:gs pos="63000">
                  <a:srgbClr val="D9C79F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9373610" y="6462595"/>
            <a:ext cx="2743200" cy="365125"/>
          </a:xfrm>
        </p:spPr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https://www.cathaybk.com.tw/OVSWS/Content/pwm-sg/img/en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2575" y="420418"/>
            <a:ext cx="2604925" cy="20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74737B7E-230A-476F-8F2D-62A4E80D170E}"/>
              </a:ext>
            </a:extLst>
          </p:cNvPr>
          <p:cNvSpPr txBox="1"/>
          <p:nvPr userDrawn="1"/>
        </p:nvSpPr>
        <p:spPr>
          <a:xfrm>
            <a:off x="10104823" y="6529741"/>
            <a:ext cx="10262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b="1" dirty="0"/>
              <a:t>Internal Use Only</a:t>
            </a:r>
            <a:endParaRPr lang="zh-TW" altLang="en-US" sz="9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C4DBFEE-9997-44CD-A0CE-0A75DB5BC4A7}"/>
              </a:ext>
            </a:extLst>
          </p:cNvPr>
          <p:cNvSpPr txBox="1"/>
          <p:nvPr userDrawn="1"/>
        </p:nvSpPr>
        <p:spPr>
          <a:xfrm rot="1103255">
            <a:off x="2243825" y="3614208"/>
            <a:ext cx="123847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0" dirty="0">
                <a:solidFill>
                  <a:srgbClr val="E1E5E8"/>
                </a:solidFill>
                <a:latin typeface="+mn-ea"/>
                <a:ea typeface="+mn-ea"/>
              </a:rPr>
              <a:t>IPA TEAM</a:t>
            </a:r>
            <a:endParaRPr lang="zh-TW" altLang="en-US" sz="12000" dirty="0">
              <a:solidFill>
                <a:srgbClr val="E1E5E8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727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62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661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687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288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355666" y="6418436"/>
            <a:ext cx="2743200" cy="365125"/>
          </a:xfrm>
        </p:spPr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364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4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94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0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761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 flip="none" rotWithShape="1">
          <a:gsLst>
            <a:gs pos="99000">
              <a:schemeClr val="bg1"/>
            </a:gs>
            <a:gs pos="1000">
              <a:schemeClr val="bg1">
                <a:lumMod val="0"/>
                <a:lumOff val="100000"/>
              </a:schemeClr>
            </a:gs>
            <a:gs pos="51000">
              <a:schemeClr val="bg1">
                <a:alpha val="0"/>
                <a:lumMod val="0"/>
                <a:lumOff val="100000"/>
              </a:schemeClr>
            </a:gs>
            <a:gs pos="0">
              <a:srgbClr val="2B2D3C"/>
            </a:gs>
            <a:gs pos="100000">
              <a:srgbClr val="BE9E5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61" y="1623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1" y="1623"/>
                        <a:ext cx="2159" cy="16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oc id" hidden="1"/>
          <p:cNvSpPr>
            <a:spLocks noChangeArrowheads="1"/>
          </p:cNvSpPr>
          <p:nvPr userDrawn="1"/>
        </p:nvSpPr>
        <p:spPr bwMode="auto">
          <a:xfrm>
            <a:off x="10995480" y="51833"/>
            <a:ext cx="894152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429"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808080"/>
              </a:solidFill>
            </a:endParaRP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 bwMode="gray">
          <a:xfrm>
            <a:off x="646111" y="6139543"/>
            <a:ext cx="740453" cy="5699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zh-TW"/>
            </a:defPPr>
            <a:lvl1pPr marL="0" algn="ctr" defTabSz="914303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6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9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1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2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6111" y="6393786"/>
            <a:ext cx="3859795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448800" y="64882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0CD45AA-459F-4CA1-85E4-A3C6F59ED58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4195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0">
          <p15:clr>
            <a:srgbClr val="F26B43"/>
          </p15:clr>
        </p15:guide>
        <p15:guide id="2" pos="99">
          <p15:clr>
            <a:srgbClr val="F26B43"/>
          </p15:clr>
        </p15:guide>
        <p15:guide id="3" orient="horz" pos="571">
          <p15:clr>
            <a:srgbClr val="F26B43"/>
          </p15:clr>
        </p15:guide>
        <p15:guide id="4" orient="horz" pos="3911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gradFill flip="none" rotWithShape="1">
          <a:gsLst>
            <a:gs pos="99000">
              <a:schemeClr val="bg1"/>
            </a:gs>
            <a:gs pos="1000">
              <a:schemeClr val="bg1">
                <a:lumMod val="0"/>
                <a:lumOff val="100000"/>
              </a:schemeClr>
            </a:gs>
            <a:gs pos="51000">
              <a:schemeClr val="bg1">
                <a:alpha val="0"/>
                <a:lumMod val="0"/>
                <a:lumOff val="100000"/>
              </a:schemeClr>
            </a:gs>
            <a:gs pos="0">
              <a:srgbClr val="BE9E5A"/>
            </a:gs>
            <a:gs pos="100000">
              <a:srgbClr val="2B2D3C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448800" y="64882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0CD45AA-459F-4CA1-85E4-A3C6F59ED58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28823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07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6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7498079" cy="2057400"/>
          </a:xfrm>
          <a:prstGeom prst="rect">
            <a:avLst/>
          </a:prstGeom>
          <a:solidFill>
            <a:srgbClr val="0E1822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3191256"/>
            <a:ext cx="5852160" cy="25603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4818888"/>
            <a:ext cx="5852160" cy="25603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3255264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31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Portfolio Advisory</a:t>
            </a:r>
            <a:r>
              <a:rPr sz="31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  晨會重點摘要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41148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>
                <a:solidFill>
                  <a:srgbClr val="D9C79F"/>
                </a:solidFill>
                <a:latin typeface="微軟正黑體"/>
                <a:ea typeface="微軟正黑體"/>
                <a:cs typeface="微軟正黑體"/>
              </a:rPr>
              <a:t>四週市場回顧：AI 盈餘牛市 × 油價衝擊 × 聯儲鷹派轉向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彙整期間 2026/06/02 – 06/25　·　12 份每日晨會重點摘要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301752"/>
            <a:ext cx="3474720" cy="548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02336" y="6236208"/>
            <a:ext cx="384048" cy="25603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02568" y="6236208"/>
            <a:ext cx="384048" cy="25603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291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D9C79F"/>
                </a:solidFill>
                <a:latin typeface="微軟正黑體"/>
                <a:ea typeface="微軟正黑體"/>
                <a:cs typeface="微軟正黑體"/>
              </a:rPr>
              <a:t>私人銀行專屬投組諮詢科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總覽：四週市場主軸 — 盈餘牛市撞上鷹派轉向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6903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過去四週（6/2–6/25），市場的核心張力可以一句話概括：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基本面（企業盈餘）依然強勁，但宏觀環境（通膨與利率）正在轉向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。月初高盛、德銀與花旗接連上調標普 500 年底目標至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8,000–8,100 點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，AI 資本開支超級週期帶動的盈餘上修是主要動力；然而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6/5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 一場由部位過度擁擠引發的科技股重挫（那斯達克單日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−4.18%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、費半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−10.26%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），揭開了「牛市中場、容錯率極低」的序幕。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隨後行情圍繞兩條主線拉鋸。其一是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油價與地緣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：伊朗戰爭推升通膨，布倫特原油在「基準 86、事故情境 150 美元」之間擺盪，直到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6/16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 美伊達成臨時協議、霍爾木茲海峽重啟在望，油價才回落至 84 美元以下。其二是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聯儲政策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：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6/24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 沃什（Warsh）主持的首場 FOMC 雖按兵不動，點陣圖卻意外轉鷹，市場將首次加息預期由 2027 年 3 月大幅提前至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2026 年 10 月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，華爾街集體撤回降息押注。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換言之，這既非單純多頭、也非空頭，而是一個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「相信 AI 敘事」與「預期透支」相互拉扯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的市場：盈餘的確定性仍支撐估值，但擁擠度創歷史新高、利率逼近紅線，使任何利空都可能被槓桿與波動率放大。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234440"/>
            <a:ext cx="4526280" cy="5138928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1234440"/>
            <a:ext cx="4526280" cy="420624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19" y="1271016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四週關鍵節點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181051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6/02–04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181051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「1999 遇上 1990」：AI 熱潮撞上油價衝擊，GS/DB 上調標普目標至 8000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2455164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245516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科技重挫：那指 −4.18%、費半 −10.26%，逾兆美元蒸發，韓股熔斷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3099816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6/09–11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309981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「健康調整」非見頂；惟大摩流動性指標轉緊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3744468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6/16–17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37444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美伊臨時協議，布倫特跌破 84；大型科技去擁擠回中性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438912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擁擠度創高：做多半導體＝史上最擁擠（80%），現金升至 4.1%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50337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503377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FOMC 鷹派轉向：首次加息預期提前至 2026/10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5678424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567842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資產配置防禦微調：美股超配、歐能源降中性、偏好中期美債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4710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6A7C8D"/>
                </a:solidFill>
                <a:latin typeface="微軟正黑體"/>
                <a:ea typeface="微軟正黑體"/>
                <a:cs typeface="微軟正黑體"/>
              </a:rPr>
              <a:t>資料來源：Goldman Sachs / Morgan Stanley / Deutsche Bank / Citi / BofA / Bloomberg（PA 晨會摘要 2026/06）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主題一：AI 盈餘牛市 — 中場，但窗口正在收窄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6903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本輪美股的核心驅動力，是一場被花旗形容為「史無前例」的 AI 資本開支超級週期。與 1999 年或 2021 年的純情緒行情不同，這次有紮實的盈餘背書：標普 500 第一季實際盈餘較市場共識高出約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13%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，2026 年每股盈餘預估自 320 美元一路上修至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340–350 美元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，2027 年上看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385–400 美元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。高盛、花旗因而分別將年底目標上調至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8,000、8,100 點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，大摩更給出 2027 年中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8,300 點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目標。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但多家投行同時示警「窗口正在收窄」。後續上漲須靠盈餘、而非估值擴張推動——新目標隱含的本益比（約 20–23 倍）反而較先前更低；最快的盈餘增速可能已過，正向驚喜將逐步收斂，形成一個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容錯率極低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的市場。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更值得警惕的是集中度：AI 相關個股已佔標普 500 權重達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39%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。當「賣鏟子」（AI 基礎設施）邏輯被市場充分認識後，下行風險呈現不對稱放大——越是眾所周知的主題，一旦增速放緩，定價逆轉就越快。這正是後續配置須主動分散、降低集中的根本原因。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06640" y="1417320"/>
          <a:ext cx="4526280" cy="4023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5156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指標</a:t>
                      </a:r>
                    </a:p>
                  </a:txBody>
                  <a:tcPr marL="91440" marR="73152" marT="36576" marB="36576" anchor="ctr">
                    <a:solidFill>
                      <a:srgbClr val="BE9E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現況</a:t>
                      </a:r>
                    </a:p>
                  </a:txBody>
                  <a:tcPr marL="91440" marR="73152" marT="36576" marB="36576" anchor="ctr">
                    <a:solidFill>
                      <a:srgbClr val="BE9E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標普目標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GS 8000・Citi 8100・DB 8000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（大摩）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MS 8300（2027 年中）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2026 EPS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340–350 美元（↑自 320）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2027 EPS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385–400 美元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Q1 盈餘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較市場共識高約 13%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AI 權重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佔標普 500 約 39%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本益比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約 20–23 倍（隨盈餘上修而降）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54710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6A7C8D"/>
                </a:solidFill>
                <a:latin typeface="微軟正黑體"/>
                <a:ea typeface="微軟正黑體"/>
                <a:cs typeface="微軟正黑體"/>
              </a:rPr>
              <a:t>資料來源：Goldman Sachs / Citi / Morgan Stanley（PA 晨會摘要 2026/06）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主題二：通膨回溫與聯儲鷹派轉向 — 1996 還是 1999？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612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這段期間最關鍵的宏觀轉折，是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通膨預期回溫與聯儲態度轉鷹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。德銀以「1999 遇上 1990」形容當前處境——AI 熱潮像 1999、油價衝擊像 1990；其最新預測中增長僅小幅下修、通膨卻大幅上修，名義 GDP 被通膨托高，迫使央行週期轉向。轉折點落在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6/24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：沃什主持的首場 FOMC 維持利率不變，但點陣圖意外轉鷹（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18 位官員中 9 位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指向年內加息），並刪除「寬鬆偏向」措辭、拒絕提供前瞻指引。掉期市場隨即將首次加息預期由 2027 年 3 月提前至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2026 年 10 月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，年內已定價約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41 個基點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，2 年期美債殖利率創 3 月以來最大單日漲幅。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市場的核心辯論，是這輪 AI 繁榮究竟是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1996（生產率紅利，可從容按兵不動）還是 1999（需求過熱，須預先收緊）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。沃什明顯傾向 1996 劇本，但面對關稅、財政赤字擴張與全球化紅利消退，其通膨壓力大於格林斯潘當年——這也使各大投行對聯儲路徑出現罕見分歧：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224528"/>
          <a:ext cx="11640312" cy="2194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9537192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機構</a:t>
                      </a:r>
                    </a:p>
                  </a:txBody>
                  <a:tcPr marL="91440" marR="73152" marT="36576" marB="36576" anchor="ctr">
                    <a:solidFill>
                      <a:srgbClr val="BE9E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對聯儲路徑的看法</a:t>
                      </a:r>
                    </a:p>
                  </a:txBody>
                  <a:tcPr marL="91440" marR="73152" marT="36576" marB="36576" anchor="ctr">
                    <a:solidFill>
                      <a:srgbClr val="BE9E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美銀 BofA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年內加息 3 碼（9/10/12 月，共 +75bp）；維持「逢高減倉」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德銀 DB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年內加息 2 碼至 4.1%，警告 7 月可能提前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巴克萊 Barclays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建議做空美債，殖利率曲線「熊陡」，各天期目標上調約 35bp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花旗 Citi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逆勢，仍看降息（10/12 月、明年 1 月各 −25bp）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大摩 MS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今年按兵不動，明年第一季降息 1 碼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54710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6A7C8D"/>
                </a:solidFill>
                <a:latin typeface="微軟正黑體"/>
                <a:ea typeface="微軟正黑體"/>
                <a:cs typeface="微軟正黑體"/>
              </a:rPr>
              <a:t>資料來源：BofA / Deutsche Bank / Barclays / Citi / Morgan Stanley（PA 晨會摘要 2026/06）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主題三：油價是「總開關」，利率是「紅線」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6903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若說盈餘決定市場的高度，那麼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油價與利率，就決定了市場的下檔風險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。德銀直言油價是這輪行情的「總開關」：基準情境假設霍爾木茲海峽於 6 月底重啟、布倫特二季均價約 109 美元、四季回落至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86 美元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；但若海峽封鎖拖延，油價恐逼近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150 美元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，屆時全球增長風險將非線性放大，歐洲最先承壓。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6/16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 的美伊臨時協議使布倫特一度跌破 84 美元，但彭博提醒協議持久性偏低、海峽重啟仍脆弱。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利率方面，高盛劃出明確紅線：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10 年期美債殖利率觸及 5%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，才是真正威脅股市估值的水準——目前尚未觸及，但債市已成為下半年最關鍵的變數。財政赤字接近 GDP 的 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6.6%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、長債供給增加、通膨回落放緩，使長端利率面臨上行壓力，殖利率曲線呈現「熊市平坦化」。真正的風險不在於 AI 故事結束，而在於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利率、槓桿與波動率開始相互放大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兩者交匯出全場的勝負手——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油價能否回落到足以把 CPI 壓回 3% 以下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。若能，則花旗的降息劇本成立；若不能，則美銀所警告的「滯脹」路徑風險上升。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371600"/>
            <a:ext cx="4526280" cy="1371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1371600"/>
            <a:ext cx="4526280" cy="457200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1371600"/>
            <a:ext cx="64008" cy="1371600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1417320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油價情境（布倫特，美元/桶）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1" y="1938528"/>
            <a:ext cx="42153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基準 86　|　事故情境 150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6/16 臨時協議後一度跌破 84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907792"/>
            <a:ext cx="4526280" cy="1371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2907792"/>
            <a:ext cx="4526280" cy="457200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907792"/>
            <a:ext cx="64008" cy="1371600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2953512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利率紅線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3474720"/>
            <a:ext cx="42153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10 年期美債 5% ＝股市紅線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財政赤字 ≈ GDP 6.6%，曲線熊平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443984"/>
            <a:ext cx="4526280" cy="1371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443984"/>
            <a:ext cx="4526280" cy="457200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4443984"/>
            <a:ext cx="64008" cy="1371600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4489704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全場勝負手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5010912"/>
            <a:ext cx="42153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油價能否壓 CPI 回 3% 以下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→ 花旗降息 vs 美銀滯脹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4710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6A7C8D"/>
                </a:solidFill>
                <a:latin typeface="微軟正黑體"/>
                <a:ea typeface="微軟正黑體"/>
                <a:cs typeface="微軟正黑體"/>
              </a:rPr>
              <a:t>資料來源：Deutsche Bank / Goldman Sachs / Citi / BofA / Bloomberg（PA 晨會摘要 2026/06）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區域分化與市場溫度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07008"/>
            <a:ext cx="11612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在共同的宏觀背景下，各區域表現明顯分化：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美國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最具韌性、是各大投行一致的超配市場，隱憂在估值與擁擠；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歐洲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最為脆弱，距技術性衰退僅一步之遙；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亞洲（除日）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為亮點，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韓國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受惠記憶體晶片超級週期、估值仍低，存在重估空間；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日本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被油價改寫、日圓走貶；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中國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資金面偏弱。與此同時，支撐行情的情緒與資金本身已成風險——擁擠度與樂觀程度雙雙逼近極端。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2880360"/>
          <a:ext cx="681228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43000"/>
                <a:gridCol w="219456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區域</a:t>
                      </a:r>
                    </a:p>
                  </a:txBody>
                  <a:tcPr marL="91440" marR="73152" marT="36576" marB="36576" anchor="ctr">
                    <a:solidFill>
                      <a:srgbClr val="BE9E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觀點</a:t>
                      </a:r>
                    </a:p>
                  </a:txBody>
                  <a:tcPr marL="91440" marR="73152" marT="36576" marB="36576" anchor="ctr">
                    <a:solidFill>
                      <a:srgbClr val="BE9E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關鍵數據</a:t>
                      </a:r>
                    </a:p>
                  </a:txBody>
                  <a:tcPr marL="91440" marR="73152" marT="36576" marB="36576" anchor="ctr">
                    <a:solidFill>
                      <a:srgbClr val="BE9E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美國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最具韌性，一致超配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消費+設備投資；估值偏高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亞洲(除日)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亮點，韓國突圍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MSCI 韓股 7.2x；IT EPS 翻倍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日本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被油價改寫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日圓 161.8（24/7 來最低）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歐洲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最弱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2026 GDP 0.5%；近技術性衰退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中國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資金偏弱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連 11 週淨流出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269480" y="2880360"/>
            <a:ext cx="2286000" cy="1024128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69480" y="2880360"/>
            <a:ext cx="54864" cy="1024128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15783" y="2953512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39%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15783" y="3429000"/>
            <a:ext cx="20665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AI 股佔標普權重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8632" y="2880360"/>
            <a:ext cx="2286000" cy="1024128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28632" y="2880360"/>
            <a:ext cx="54864" cy="1024128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74936" y="2953512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1">
                <a:solidFill>
                  <a:srgbClr val="B14A42"/>
                </a:solidFill>
                <a:latin typeface="微軟正黑體"/>
                <a:ea typeface="微軟正黑體"/>
                <a:cs typeface="微軟正黑體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4936" y="3429000"/>
            <a:ext cx="20665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做多半導體＝史上最擁擠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3995928"/>
            <a:ext cx="2286000" cy="1024128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9480" y="3995928"/>
            <a:ext cx="54864" cy="1024128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5783" y="406908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1">
                <a:solidFill>
                  <a:srgbClr val="B14A42"/>
                </a:solidFill>
                <a:latin typeface="微軟正黑體"/>
                <a:ea typeface="微軟正黑體"/>
                <a:cs typeface="微軟正黑體"/>
              </a:rPr>
              <a:t>9.2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5783" y="4544568"/>
            <a:ext cx="20665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美銀牛熊指標（賣出區）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28632" y="3995928"/>
            <a:ext cx="2286000" cy="1024128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28632" y="3995928"/>
            <a:ext cx="54864" cy="1024128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4936" y="406908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1">
                <a:solidFill>
                  <a:srgbClr val="235173"/>
                </a:solidFill>
                <a:latin typeface="微軟正黑體"/>
                <a:ea typeface="微軟正黑體"/>
                <a:cs typeface="微軟正黑體"/>
              </a:rPr>
              <a:t>4.1%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6" y="4544568"/>
            <a:ext cx="20665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平均現金水位（防禦↑）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5111496"/>
            <a:ext cx="2286000" cy="1024128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80" y="5111496"/>
            <a:ext cx="54864" cy="1024128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783" y="5184648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$119bn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783" y="5660136"/>
            <a:ext cx="20665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美股單週淨流入（紀錄）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8632" y="5111496"/>
            <a:ext cx="2286000" cy="1024128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28632" y="5111496"/>
            <a:ext cx="54864" cy="1024128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74936" y="5184648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900" b="1">
                <a:solidFill>
                  <a:srgbClr val="235173"/>
                </a:solidFill>
                <a:latin typeface="微軟正黑體"/>
                <a:ea typeface="微軟正黑體"/>
                <a:cs typeface="微軟正黑體"/>
              </a:rPr>
              <a:t>28%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4936" y="5660136"/>
            <a:ext cx="20665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視 AI 泡沫為首要尾部風險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54710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6A7C8D"/>
                </a:solidFill>
                <a:latin typeface="微軟正黑體"/>
                <a:ea typeface="微軟正黑體"/>
                <a:cs typeface="微軟正黑體"/>
              </a:rPr>
              <a:t>資料來源：Deutsche Bank / Morgan Stanley / BofA / Bloomberg（PA 晨會摘要 2026/06）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結論與資產配置建議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07008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綜合過去四週各大投行觀點，我們維持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「建設性、但防禦微調」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的基調：基本面（盈餘）仍足以支撐市場，但在擁擠度創高、利率逼近紅線的環境下，應主動</a:t>
            </a:r>
            <a:r>
              <a:rPr sz="125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降低集中與槓桿、提高現金緩衝</a:t>
            </a: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，並緊盯油價與利率兩大搖擺因子。具體配置上：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487168"/>
            <a:ext cx="3703320" cy="352044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487168"/>
            <a:ext cx="3703320" cy="457200"/>
          </a:xfrm>
          <a:prstGeom prst="rect">
            <a:avLst/>
          </a:prstGeom>
          <a:solidFill>
            <a:srgbClr val="3F7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487168"/>
            <a:ext cx="64008" cy="3520440"/>
          </a:xfrm>
          <a:prstGeom prst="rect">
            <a:avLst/>
          </a:prstGeom>
          <a:solidFill>
            <a:srgbClr val="3F7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532888"/>
            <a:ext cx="3429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▲  增持 OVERWEIGHT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054096"/>
            <a:ext cx="339242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美股（品質/盈餘）：金融・工業・醫療，廣度外擴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亞洲（除日）/ 韓國：晶片週期 + 低估值重估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中期美債：殖利率年底回落，carry + 防禦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新興市場低波動、高股息個股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2487168"/>
            <a:ext cx="3703320" cy="352044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2816" y="2487168"/>
            <a:ext cx="3703320" cy="457200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2816" y="2487168"/>
            <a:ext cx="64008" cy="3520440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7" y="2532888"/>
            <a:ext cx="3429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▼  減持 UNDERWEIGHT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3054096"/>
            <a:ext cx="339242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擁擠的大型科技 / 半導體集中部位（降槓桿）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長天期債券：熊陡風險，10Y 逼近 5%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歐洲股票 / 信用：近技術性衰退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日圓 / 未對沖日股：結構性走弱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2" y="2487168"/>
            <a:ext cx="3703320" cy="352044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2487168"/>
            <a:ext cx="3703320" cy="457200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2487168"/>
            <a:ext cx="64008" cy="3520440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532888"/>
            <a:ext cx="3429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●  中性 / 戰術 NEUTRAL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054096"/>
            <a:ext cx="339242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歐洲能源股：Hormuz 重啟 → 降至中性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黃金：滯脹 / 地緣對沖，小幅配置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現金：提高至 ~4%，保留乾火藥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波動率資產：適度配置以防尾部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163056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6A7C8D"/>
                </a:solidFill>
                <a:latin typeface="微軟正黑體"/>
                <a:ea typeface="微軟正黑體"/>
                <a:cs typeface="微軟正黑體"/>
              </a:rPr>
              <a:t>※ 上述為彙整各投行研究之整合視角，非個別投資建議；花旗 / 大摩對聯儲路徑（仍見降息）與多數機構（轉向加息）存在分歧，請依自身風險屬性判讀。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下一步：關鍵觀察點與風險地圖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0700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未來數週，市場走向「1996 軟著陸」或「1999 過熱」劇本，取決於以下六個變數。任一變數惡化，都可能改變上述配置的攻守平衡——建議以此作為動態調整的觸發點：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286000"/>
            <a:ext cx="3776472" cy="1627632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286000"/>
            <a:ext cx="3776472" cy="64008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64008" cy="1627632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14016"/>
            <a:ext cx="3465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油價 → CPI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9504"/>
            <a:ext cx="34472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能否壓回 3% 以下？花旗降息劇本 vs 美銀滯脹劇本的勝負手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286000"/>
            <a:ext cx="3776472" cy="1627632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286000"/>
            <a:ext cx="3776472" cy="64008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2286000"/>
            <a:ext cx="64008" cy="1627632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414016"/>
            <a:ext cx="3465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B14A42"/>
                </a:solidFill>
                <a:latin typeface="微軟正黑體"/>
                <a:ea typeface="微軟正黑體"/>
                <a:cs typeface="微軟正黑體"/>
              </a:rPr>
              <a:t>FOMC 路徑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89504"/>
            <a:ext cx="34472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10 月加息已定價；美銀看 3 碼、德銀 2 碼，花旗逆勢看降息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2286000"/>
            <a:ext cx="3776472" cy="1627632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2286000"/>
            <a:ext cx="3776472" cy="64008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2286000"/>
            <a:ext cx="64008" cy="1627632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414016"/>
            <a:ext cx="3465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235173"/>
                </a:solidFill>
                <a:latin typeface="微軟正黑體"/>
                <a:ea typeface="微軟正黑體"/>
                <a:cs typeface="微軟正黑體"/>
              </a:rPr>
              <a:t>10 年期美債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889504"/>
            <a:ext cx="34472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逼近 5% ＝股市紅線；曲線熊陡、財政赤字與長端供給壓力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23360"/>
            <a:ext cx="3776472" cy="1627632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023360"/>
            <a:ext cx="3776472" cy="64008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023360"/>
            <a:ext cx="64008" cy="1627632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51376"/>
            <a:ext cx="3465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AI 盈餘 / 資本開支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26864"/>
            <a:ext cx="34472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2027 雲廠商 capex 看破 1 兆；盈餘可持續性是估值關鍵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4023360"/>
            <a:ext cx="3776472" cy="1627632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4023360"/>
            <a:ext cx="3776472" cy="64008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4023360"/>
            <a:ext cx="64008" cy="1627632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4151376"/>
            <a:ext cx="3465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235173"/>
                </a:solidFill>
                <a:latin typeface="微軟正黑體"/>
                <a:ea typeface="微軟正黑體"/>
                <a:cs typeface="微軟正黑體"/>
              </a:rPr>
              <a:t>擁擠度去化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626864"/>
            <a:ext cx="34472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做多半導體 / Mag 7 若鬆動，恐引發連鎖去槓桿與波動放大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4023360"/>
            <a:ext cx="3776472" cy="1627632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80" y="4023360"/>
            <a:ext cx="3776472" cy="64008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80" y="4023360"/>
            <a:ext cx="64008" cy="1627632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151376"/>
            <a:ext cx="3465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B14A42"/>
                </a:solidFill>
                <a:latin typeface="微軟正黑體"/>
                <a:ea typeface="微軟正黑體"/>
                <a:cs typeface="微軟正黑體"/>
              </a:rPr>
              <a:t>政治 / 日圓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626864"/>
            <a:ext cx="34472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11 月中期選舉「股債匯三殺」風險；日圓 carry 平倉尾部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053328"/>
            <a:ext cx="11640312" cy="457200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089904"/>
            <a:ext cx="11338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底線：基本面仍穩，但市場容錯率低 —— 增持盈餘確定性、控制集中與槓桿，緊盯油價與利率兩大搖擺因子。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https://www.freeppt7.com">
  <a:themeElements>
    <a:clrScheme name="自訂 5">
      <a:dk1>
        <a:sysClr val="windowText" lastClr="000000"/>
      </a:dk1>
      <a:lt1>
        <a:sysClr val="window" lastClr="FFFFFF"/>
      </a:lt1>
      <a:dk2>
        <a:srgbClr val="235173"/>
      </a:dk2>
      <a:lt2>
        <a:srgbClr val="6A7C8D"/>
      </a:lt2>
      <a:accent1>
        <a:srgbClr val="DAE3F3"/>
      </a:accent1>
      <a:accent2>
        <a:srgbClr val="977B3B"/>
      </a:accent2>
      <a:accent3>
        <a:srgbClr val="D9C79F"/>
      </a:accent3>
      <a:accent4>
        <a:srgbClr val="BE9E5A"/>
      </a:accent4>
      <a:accent5>
        <a:srgbClr val="4472C4"/>
      </a:accent5>
      <a:accent6>
        <a:srgbClr val="03D3CF"/>
      </a:accent6>
      <a:hlink>
        <a:srgbClr val="0563C1"/>
      </a:hlink>
      <a:folHlink>
        <a:srgbClr val="954F72"/>
      </a:folHlink>
    </a:clrScheme>
    <a:fontScheme name="Tw Cen MT">
      <a:majorFont>
        <a:latin typeface="微軟正黑體" panose="020B0602020104020603"/>
        <a:ea typeface="微軟正黑體"/>
        <a:cs typeface="微軟正黑體"/>
        <a:font script="Grek" typeface="Calibri"/>
        <a:font script="Cyrl" typeface="Calibri"/>
        <a:font script="Jpan" typeface="HGPｺﾞｼｯｸE"/>
        <a:font script="Hang" typeface="HY얕은샘물M"/>
        <a:font script="Hans" typeface="微軟正黑體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微軟正黑體" panose="020B0602020104020603"/>
        <a:ea typeface="微軟正黑體"/>
        <a:cs typeface="微軟正黑體"/>
        <a:font script="Grek" typeface="Calibri"/>
        <a:font script="Cyrl" typeface="Calibri"/>
        <a:font script="Jpan" typeface="HGPｺﾞｼｯｸE"/>
        <a:font script="Hang" typeface="HY얕은샘물M"/>
        <a:font script="Hans" typeface="微軟正黑體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117585</TotalTime>
  <Words>938</Words>
  <Application>Microsoft Macintosh PowerPoint</Application>
  <PresentationFormat>Widescreen</PresentationFormat>
  <Paragraphs>51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微軟正黑體</vt:lpstr>
      <vt:lpstr>华文仿宋</vt:lpstr>
      <vt:lpstr>Arial</vt:lpstr>
      <vt:lpstr>Calibri</vt:lpstr>
      <vt:lpstr>Tw Cen MT</vt:lpstr>
      <vt:lpstr>https://www.freeppt7.com</vt:lpstr>
      <vt:lpstr>think-cell Slide</vt:lpstr>
      <vt:lpstr>PowerPoint Presentation</vt:lpstr>
      <vt:lpstr>台積電財報證實AI熱潮背後確有基本面支撐</vt:lpstr>
      <vt:lpstr>德黑蘭不應該把賭注壓在川普「臨陣變卦」（TACO）</vt:lpstr>
      <vt:lpstr>儘管中東戰火燃燒，石油供應依然充足</vt:lpstr>
      <vt:lpstr>地區衝突的蔓延可能衝擊全球石油命脈</vt:lpstr>
      <vt:lpstr>可能衝擊全球石油命脈的地區衝突蔓延</vt:lpstr>
    </vt:vector>
  </TitlesOfParts>
  <Company>www.freeppt7.com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templates</dc:title>
  <dc:creator>www.freeppt7.com</dc:creator>
  <cp:keywords>https:/www.freeppt7.com</cp:keywords>
  <dc:description>https://www.freeppt7.com</dc:description>
  <cp:lastModifiedBy>Jake Chien</cp:lastModifiedBy>
  <cp:revision>733</cp:revision>
  <cp:lastPrinted>2025-09-04T00:48:15Z</cp:lastPrinted>
  <dcterms:created xsi:type="dcterms:W3CDTF">2016-09-12T14:15:35Z</dcterms:created>
  <dcterms:modified xsi:type="dcterms:W3CDTF">2026-01-19T13:56:44Z</dcterms:modified>
</cp:coreProperties>
</file>