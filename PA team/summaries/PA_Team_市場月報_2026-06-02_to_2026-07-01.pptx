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embeddings/oleObject1.bin" ContentType="application/vnd.openxmlformats-officedocument.oleObject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7"/>
    <p:sldId id="257" r:id="rId6"/>
    <p:sldId id="258" r:id="rId5"/>
    <p:sldId id="259" r:id="rId4"/>
    <p:sldId id="260" r:id="rId3"/>
    <p:sldId id="261" r:id="rId2"/>
    <p:sldId id="262" r:id="rId14"/>
    <p:sldId id="263" r:id="rId15"/>
    <p:sldId id="264" r:id="rId16"/>
  </p:sldIdLst>
  <p:sldSz cx="12192000" cy="6858000"/>
  <p:notesSz cx="6807200" cy="9939338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朱立文43942" initials="朱立文43942" lastIdx="2" clrIdx="0">
    <p:extLst>
      <p:ext uri="{19B8F6BF-5375-455C-9EA6-DF929625EA0E}">
        <p15:presenceInfo xmlns:p15="http://schemas.microsoft.com/office/powerpoint/2012/main" userId="S-1-5-21-3192580919-598680264-2341286884-113567" providerId="AD"/>
      </p:ext>
    </p:extLst>
  </p:cmAuthor>
  <p:cmAuthor id="2" name="賴俊維" initials="賴俊維" lastIdx="1" clrIdx="1">
    <p:extLst>
      <p:ext uri="{19B8F6BF-5375-455C-9EA6-DF929625EA0E}">
        <p15:presenceInfo xmlns:p15="http://schemas.microsoft.com/office/powerpoint/2012/main" userId="S-1-5-21-3192580919-598680264-2341286884-22894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C9C8"/>
    <a:srgbClr val="977B3B"/>
    <a:srgbClr val="E1E5E8"/>
    <a:srgbClr val="255072"/>
    <a:srgbClr val="F9F7F1"/>
    <a:srgbClr val="FFFFFF"/>
    <a:srgbClr val="F0E9D9"/>
    <a:srgbClr val="7F7F7F"/>
    <a:srgbClr val="2B394E"/>
    <a:srgbClr val="2351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E3FDE45-AF77-4B5C-9715-49D594BDF05E}" styleName="淺色樣式 1 - 輔色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FD0F851-EC5A-4D38-B0AD-8093EC10F338}" styleName="淺色樣式 1 - 輔色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9D7B26C5-4107-4FEC-AEDC-1716B250A1EF}" styleName="淺色樣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7" autoAdjust="0"/>
    <p:restoredTop sz="95207" autoAdjust="0"/>
  </p:normalViewPr>
  <p:slideViewPr>
    <p:cSldViewPr snapToGrid="0" showGuides="1">
      <p:cViewPr varScale="1">
        <p:scale>
          <a:sx n="125" d="100"/>
          <a:sy n="125" d="100"/>
        </p:scale>
        <p:origin x="176" y="24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5" d="100"/>
          <a:sy n="75" d="100"/>
        </p:scale>
        <p:origin x="2184" y="7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6.xml"/><Relationship Id="rId3" Type="http://schemas.openxmlformats.org/officeDocument/2006/relationships/slide" Target="slides/slide5.xml"/><Relationship Id="rId4" Type="http://schemas.openxmlformats.org/officeDocument/2006/relationships/slide" Target="slides/slide4.xml"/><Relationship Id="rId5" Type="http://schemas.openxmlformats.org/officeDocument/2006/relationships/slide" Target="slides/slide3.xml"/><Relationship Id="rId6" Type="http://schemas.openxmlformats.org/officeDocument/2006/relationships/slide" Target="slides/slide2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commentAuthors" Target="commentAuthors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9786" cy="498693"/>
          </a:xfrm>
          <a:prstGeom prst="rect">
            <a:avLst/>
          </a:prstGeom>
        </p:spPr>
        <p:txBody>
          <a:bodyPr vert="horz" lIns="95687" tIns="47844" rIns="95687" bIns="47844" rtlCol="0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5839" y="0"/>
            <a:ext cx="2949786" cy="498693"/>
          </a:xfrm>
          <a:prstGeom prst="rect">
            <a:avLst/>
          </a:prstGeom>
        </p:spPr>
        <p:txBody>
          <a:bodyPr vert="horz" lIns="95687" tIns="47844" rIns="95687" bIns="47844" rtlCol="0"/>
          <a:lstStyle>
            <a:lvl1pPr algn="r">
              <a:defRPr sz="1300"/>
            </a:lvl1pPr>
          </a:lstStyle>
          <a:p>
            <a:fld id="{E8AEBB65-8565-424A-B5E3-4358D1E6A74A}" type="datetimeFigureOut">
              <a:rPr lang="zh-CN" altLang="en-US" smtClean="0"/>
              <a:t>2026/1/19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3863" y="1243013"/>
            <a:ext cx="5961062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687" tIns="47844" rIns="95687" bIns="47844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</p:spPr>
        <p:txBody>
          <a:bodyPr vert="horz" lIns="95687" tIns="47844" rIns="95687" bIns="47844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1" y="9440647"/>
            <a:ext cx="2949786" cy="498692"/>
          </a:xfrm>
          <a:prstGeom prst="rect">
            <a:avLst/>
          </a:prstGeom>
        </p:spPr>
        <p:txBody>
          <a:bodyPr vert="horz" lIns="95687" tIns="47844" rIns="95687" bIns="47844" rtlCol="0" anchor="b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5839" y="9440647"/>
            <a:ext cx="2949786" cy="498692"/>
          </a:xfrm>
          <a:prstGeom prst="rect">
            <a:avLst/>
          </a:prstGeom>
        </p:spPr>
        <p:txBody>
          <a:bodyPr vert="horz" lIns="95687" tIns="47844" rIns="95687" bIns="47844" rtlCol="0" anchor="b"/>
          <a:lstStyle>
            <a:lvl1pPr algn="r">
              <a:defRPr sz="1300"/>
            </a:lvl1pPr>
          </a:lstStyle>
          <a:p>
            <a:fld id="{C49A0EBF-6A85-4ADC-A02D-397B28B066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65547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.bin"/><Relationship Id="rId4" Type="http://schemas.openxmlformats.org/officeDocument/2006/relationships/image" Target="../media/image2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4DE26-EAF8-46E1-941D-7D0A70DB1D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03196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>
            <a:extLst>
              <a:ext uri="{FF2B5EF4-FFF2-40B4-BE49-F238E27FC236}">
                <a16:creationId xmlns:a16="http://schemas.microsoft.com/office/drawing/2014/main" id="{1BFCAD2C-1572-48C4-A5FC-B7044CAF9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775" y="257111"/>
            <a:ext cx="10515600" cy="480131"/>
          </a:xfrm>
          <a:noFill/>
        </p:spPr>
        <p:txBody>
          <a:bodyPr wrap="square">
            <a:spAutoFit/>
          </a:bodyPr>
          <a:lstStyle>
            <a:lvl1pPr>
              <a:defRPr lang="zh-CN" altLang="en-US" sz="2800">
                <a:solidFill>
                  <a:srgbClr val="235173"/>
                </a:solidFill>
                <a:latin typeface="+mj-ea"/>
                <a:cs typeface="+mn-cs"/>
              </a:defRPr>
            </a:lvl1pPr>
          </a:lstStyle>
          <a:p>
            <a:pPr marL="0" lvl="0"/>
            <a:r>
              <a:rPr lang="zh-CN" altLang="en-US" dirty="0"/>
              <a:t>单击此处编辑母版标题样式</a:t>
            </a:r>
          </a:p>
        </p:txBody>
      </p:sp>
      <p:cxnSp>
        <p:nvCxnSpPr>
          <p:cNvPr id="7" name="直接连接符 2">
            <a:extLst>
              <a:ext uri="{FF2B5EF4-FFF2-40B4-BE49-F238E27FC236}">
                <a16:creationId xmlns:a16="http://schemas.microsoft.com/office/drawing/2014/main" id="{57C5E73F-3720-442E-A1C8-D0436074DA44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37880" y="758787"/>
            <a:ext cx="11516240" cy="0"/>
          </a:xfrm>
          <a:prstGeom prst="line">
            <a:avLst/>
          </a:prstGeom>
          <a:ln w="25400">
            <a:gradFill flip="none" rotWithShape="1">
              <a:gsLst>
                <a:gs pos="0">
                  <a:srgbClr val="235173"/>
                </a:gs>
                <a:gs pos="85000">
                  <a:schemeClr val="accent5">
                    <a:lumMod val="20000"/>
                    <a:lumOff val="80000"/>
                  </a:schemeClr>
                </a:gs>
                <a:gs pos="39000">
                  <a:srgbClr val="6A7C8D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7593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占位符 3">
            <a:extLst>
              <a:ext uri="{FF2B5EF4-FFF2-40B4-BE49-F238E27FC236}">
                <a16:creationId xmlns:a16="http://schemas.microsoft.com/office/drawing/2014/main" id="{FD90F00C-0CB5-4739-9678-B00B8B84E0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31775" y="6256916"/>
            <a:ext cx="7266982" cy="491429"/>
          </a:xfrm>
        </p:spPr>
        <p:txBody>
          <a:bodyPr>
            <a:normAutofit/>
          </a:bodyPr>
          <a:lstStyle>
            <a:lvl1pPr marL="342900" indent="-342900">
              <a:buNone/>
              <a:defRPr lang="zh-CN" altLang="en-US" sz="1100" b="1" kern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228600" lvl="0" indent="-228600" algn="l" defTabSz="914400" rtl="0" eaLnBrk="1" latinLnBrk="0" hangingPunct="1">
              <a:buFont typeface="+mj-lt"/>
              <a:buAutoNum type="arabicPeriod"/>
            </a:pPr>
            <a:r>
              <a:rPr lang="zh-CN" altLang="en-US" dirty="0"/>
              <a:t>编辑母版文本样式</a:t>
            </a: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7B9081EE-5225-40EA-BD85-B23FFD5D5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017" y="278656"/>
            <a:ext cx="10515600" cy="480131"/>
          </a:xfrm>
          <a:noFill/>
        </p:spPr>
        <p:txBody>
          <a:bodyPr wrap="square">
            <a:spAutoFit/>
          </a:bodyPr>
          <a:lstStyle>
            <a:lvl1pPr>
              <a:defRPr lang="zh-CN" altLang="en-US" sz="2800" dirty="0">
                <a:solidFill>
                  <a:srgbClr val="977B3B"/>
                </a:solidFill>
                <a:latin typeface="+mj-ea"/>
                <a:cs typeface="+mn-cs"/>
              </a:defRPr>
            </a:lvl1pPr>
          </a:lstStyle>
          <a:p>
            <a:pPr marL="0" lvl="0"/>
            <a:r>
              <a:rPr lang="zh-CN" altLang="en-US" dirty="0"/>
              <a:t>单击此处编辑母版标题样式</a:t>
            </a:r>
          </a:p>
        </p:txBody>
      </p:sp>
      <p:cxnSp>
        <p:nvCxnSpPr>
          <p:cNvPr id="6" name="直接连接符 2">
            <a:extLst>
              <a:ext uri="{FF2B5EF4-FFF2-40B4-BE49-F238E27FC236}">
                <a16:creationId xmlns:a16="http://schemas.microsoft.com/office/drawing/2014/main" id="{A56B4B4E-4273-44E3-AB3B-F576C1598C0B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30017" y="904949"/>
            <a:ext cx="11516240" cy="0"/>
          </a:xfrm>
          <a:prstGeom prst="line">
            <a:avLst/>
          </a:prstGeom>
          <a:ln w="25400">
            <a:gradFill flip="none" rotWithShape="1">
              <a:gsLst>
                <a:gs pos="33000">
                  <a:srgbClr val="AB8D4B"/>
                </a:gs>
                <a:gs pos="0">
                  <a:srgbClr val="977B3B"/>
                </a:gs>
                <a:gs pos="63000">
                  <a:srgbClr val="D9C79F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>
          <a:xfrm>
            <a:off x="9373610" y="6462595"/>
            <a:ext cx="2743200" cy="365125"/>
          </a:xfrm>
        </p:spPr>
        <p:txBody>
          <a:bodyPr/>
          <a:lstStyle/>
          <a:p>
            <a:fld id="{6D44DE26-EAF8-46E1-941D-7D0A70DB1D98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Picture 2" descr="https://www.cathaybk.com.tw/OVSWS/Content/pwm-sg/img/enlogo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2575" y="420418"/>
            <a:ext cx="2604925" cy="207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74737B7E-230A-476F-8F2D-62A4E80D170E}"/>
              </a:ext>
            </a:extLst>
          </p:cNvPr>
          <p:cNvSpPr txBox="1"/>
          <p:nvPr userDrawn="1"/>
        </p:nvSpPr>
        <p:spPr>
          <a:xfrm>
            <a:off x="10104823" y="6529741"/>
            <a:ext cx="102624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b="1" dirty="0"/>
              <a:t>Internal Use Only</a:t>
            </a:r>
            <a:endParaRPr lang="zh-TW" altLang="en-US" sz="900" b="1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CC4DBFEE-9997-44CD-A0CE-0A75DB5BC4A7}"/>
              </a:ext>
            </a:extLst>
          </p:cNvPr>
          <p:cNvSpPr txBox="1"/>
          <p:nvPr userDrawn="1"/>
        </p:nvSpPr>
        <p:spPr>
          <a:xfrm rot="1103255">
            <a:off x="2243825" y="3614208"/>
            <a:ext cx="1238471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0" dirty="0">
                <a:solidFill>
                  <a:srgbClr val="E1E5E8"/>
                </a:solidFill>
                <a:latin typeface="+mn-ea"/>
                <a:ea typeface="+mn-ea"/>
              </a:rPr>
              <a:t>IPA TEAM</a:t>
            </a:r>
            <a:endParaRPr lang="zh-TW" altLang="en-US" sz="12000" dirty="0">
              <a:solidFill>
                <a:srgbClr val="E1E5E8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7279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4DE26-EAF8-46E1-941D-7D0A70DB1D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5628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4DE26-EAF8-46E1-941D-7D0A70DB1D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0661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4DE26-EAF8-46E1-941D-7D0A70DB1D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86872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4DE26-EAF8-46E1-941D-7D0A70DB1D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1288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9355666" y="6418436"/>
            <a:ext cx="2743200" cy="365125"/>
          </a:xfrm>
        </p:spPr>
        <p:txBody>
          <a:bodyPr/>
          <a:lstStyle/>
          <a:p>
            <a:fld id="{6D44DE26-EAF8-46E1-941D-7D0A70DB1D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7364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4DE26-EAF8-46E1-941D-7D0A70DB1D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94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4DE26-EAF8-46E1-941D-7D0A70DB1D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4940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4DE26-EAF8-46E1-941D-7D0A70DB1D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100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4DE26-EAF8-46E1-941D-7D0A70DB1D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67612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bg>
      <p:bgPr>
        <a:gradFill flip="none" rotWithShape="1">
          <a:gsLst>
            <a:gs pos="99000">
              <a:schemeClr val="bg1"/>
            </a:gs>
            <a:gs pos="1000">
              <a:schemeClr val="bg1">
                <a:lumMod val="0"/>
                <a:lumOff val="100000"/>
              </a:schemeClr>
            </a:gs>
            <a:gs pos="51000">
              <a:schemeClr val="bg1">
                <a:alpha val="0"/>
                <a:lumMod val="0"/>
                <a:lumOff val="100000"/>
              </a:schemeClr>
            </a:gs>
            <a:gs pos="0">
              <a:srgbClr val="2B2D3C"/>
            </a:gs>
            <a:gs pos="100000">
              <a:srgbClr val="BE9E5A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61" y="1623"/>
          <a:ext cx="2159" cy="16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3" name="Object 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1" y="1623"/>
                        <a:ext cx="2159" cy="161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doc id" hidden="1"/>
          <p:cNvSpPr>
            <a:spLocks noChangeArrowheads="1"/>
          </p:cNvSpPr>
          <p:nvPr userDrawn="1"/>
        </p:nvSpPr>
        <p:spPr bwMode="auto">
          <a:xfrm>
            <a:off x="10995480" y="51833"/>
            <a:ext cx="894152" cy="124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/>
          <a:lstStyle/>
          <a:p>
            <a:pPr algn="r" defTabSz="913429" fontAlgn="base">
              <a:spcBef>
                <a:spcPct val="0"/>
              </a:spcBef>
              <a:spcAft>
                <a:spcPct val="0"/>
              </a:spcAft>
            </a:pPr>
            <a:endParaRPr lang="en-US" sz="800" dirty="0">
              <a:solidFill>
                <a:srgbClr val="808080"/>
              </a:solidFill>
            </a:endParaRPr>
          </a:p>
        </p:txBody>
      </p:sp>
      <p:sp>
        <p:nvSpPr>
          <p:cNvPr id="7" name="Slide Number Placeholder 5"/>
          <p:cNvSpPr txBox="1">
            <a:spLocks/>
          </p:cNvSpPr>
          <p:nvPr userDrawn="1"/>
        </p:nvSpPr>
        <p:spPr bwMode="gray">
          <a:xfrm>
            <a:off x="646111" y="6139543"/>
            <a:ext cx="740453" cy="56993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zh-TW"/>
            </a:defPPr>
            <a:lvl1pPr marL="0" algn="ctr" defTabSz="914303" rtl="0" eaLnBrk="1" latinLnBrk="0" hangingPunct="1"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52" algn="l" defTabSz="91430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03" algn="l" defTabSz="91430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55" algn="l" defTabSz="91430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06" algn="l" defTabSz="91430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58" algn="l" defTabSz="91430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09" algn="l" defTabSz="91430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61" algn="l" defTabSz="91430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12" algn="l" defTabSz="91430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46111" y="6393786"/>
            <a:ext cx="3859795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9448800" y="648825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40CD45AA-459F-4CA1-85E4-A3C6F59ED58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641952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40">
          <p15:clr>
            <a:srgbClr val="F26B43"/>
          </p15:clr>
        </p15:guide>
        <p15:guide id="2" pos="99">
          <p15:clr>
            <a:srgbClr val="F26B43"/>
          </p15:clr>
        </p15:guide>
        <p15:guide id="3" orient="horz" pos="571">
          <p15:clr>
            <a:srgbClr val="F26B43"/>
          </p15:clr>
        </p15:guide>
        <p15:guide id="4" orient="horz" pos="3911">
          <p15:clr>
            <a:srgbClr val="F26B43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gradFill flip="none" rotWithShape="1">
          <a:gsLst>
            <a:gs pos="99000">
              <a:schemeClr val="bg1"/>
            </a:gs>
            <a:gs pos="1000">
              <a:schemeClr val="bg1">
                <a:lumMod val="0"/>
                <a:lumOff val="100000"/>
              </a:schemeClr>
            </a:gs>
            <a:gs pos="51000">
              <a:schemeClr val="bg1">
                <a:alpha val="0"/>
                <a:lumMod val="0"/>
                <a:lumOff val="100000"/>
              </a:schemeClr>
            </a:gs>
            <a:gs pos="0">
              <a:srgbClr val="BE9E5A"/>
            </a:gs>
            <a:gs pos="100000">
              <a:srgbClr val="2B2D3C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9448800" y="648825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40CD45AA-459F-4CA1-85E4-A3C6F59ED58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5288230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44DE26-EAF8-46E1-941D-7D0A70DB1D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1073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73" r:id="rId13"/>
    <p:sldLayoutId id="214748367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3.jpg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C26">
              <a:alpha val="4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926080"/>
            <a:ext cx="7498079" cy="2057400"/>
          </a:xfrm>
          <a:prstGeom prst="rect">
            <a:avLst/>
          </a:prstGeom>
          <a:solidFill>
            <a:srgbClr val="0E1822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92608" y="3191256"/>
            <a:ext cx="5852160" cy="25603"/>
          </a:xfrm>
          <a:prstGeom prst="rect">
            <a:avLst/>
          </a:prstGeom>
          <a:solidFill>
            <a:srgbClr val="BE9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2608" y="4818888"/>
            <a:ext cx="5852160" cy="25603"/>
          </a:xfrm>
          <a:prstGeom prst="rect">
            <a:avLst/>
          </a:prstGeom>
          <a:solidFill>
            <a:srgbClr val="BE9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" y="3255264"/>
            <a:ext cx="8686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310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Portfolio Advisory</a:t>
            </a:r>
            <a:r>
              <a:rPr sz="310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  晨會重點摘要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" y="411480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800" b="1">
                <a:solidFill>
                  <a:srgbClr val="D9C79F"/>
                </a:solidFill>
                <a:latin typeface="微軟正黑體"/>
                <a:ea typeface="微軟正黑體"/>
                <a:cs typeface="微軟正黑體"/>
              </a:rPr>
              <a:t>四週市場回顧：AI 盈餘牛市 × 鷹派轉向 × 月底大輪動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" y="493776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彙整期間 2026/06/02 – 07/01　·　14 份每日晨會重點摘要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3608" y="301752"/>
            <a:ext cx="3474720" cy="54864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02336" y="6236208"/>
            <a:ext cx="384048" cy="25603"/>
          </a:xfrm>
          <a:prstGeom prst="rect">
            <a:avLst/>
          </a:prstGeom>
          <a:solidFill>
            <a:srgbClr val="BE9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02568" y="6236208"/>
            <a:ext cx="384048" cy="25603"/>
          </a:xfrm>
          <a:prstGeom prst="rect">
            <a:avLst/>
          </a:prstGeom>
          <a:solidFill>
            <a:srgbClr val="BE9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" y="62910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1">
                <a:solidFill>
                  <a:srgbClr val="D9C79F"/>
                </a:solidFill>
                <a:latin typeface="微軟正黑體"/>
                <a:ea typeface="微軟正黑體"/>
                <a:cs typeface="微軟正黑體"/>
              </a:rPr>
              <a:t>私人銀行專屬投組諮詢科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總覽：四週市場主軸 — 盈餘牛市、鷹派轉向，月底掀起大輪動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24128"/>
            <a:ext cx="11640312" cy="41148"/>
          </a:xfrm>
          <a:prstGeom prst="rect">
            <a:avLst/>
          </a:prstGeom>
          <a:solidFill>
            <a:srgbClr val="BE9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234440"/>
            <a:ext cx="69037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20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過去四週（6/2–7/1），市場的核心張力可一句話概括：</a:t>
            </a:r>
            <a:r>
              <a:rPr sz="1200" b="1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基本面（企業盈餘）依然強勁，但價格的驅動力正在換手</a:t>
            </a:r>
            <a:r>
              <a:rPr sz="120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。月初高盛、德銀、花旗接連上調標普 500 年底目標至 </a:t>
            </a:r>
            <a:r>
              <a:rPr sz="1200" b="1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8,000–8,100 點</a:t>
            </a:r>
            <a:r>
              <a:rPr sz="120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；</a:t>
            </a:r>
            <a:r>
              <a:rPr sz="1200" b="1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6/5</a:t>
            </a:r>
            <a:r>
              <a:rPr sz="120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 一場由部位過度擁擠引發的科技股重挫（那斯達克 </a:t>
            </a:r>
            <a:r>
              <a:rPr sz="1200" b="1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−4.18%</a:t>
            </a:r>
            <a:r>
              <a:rPr sz="120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、費半 </a:t>
            </a:r>
            <a:r>
              <a:rPr sz="1200" b="1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−10.26%</a:t>
            </a:r>
            <a:r>
              <a:rPr sz="120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），揭開「牛市中場、容錯率極低」的序幕。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20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行情隨後圍繞</a:t>
            </a:r>
            <a:r>
              <a:rPr sz="1200" b="1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油價與聯儲</a:t>
            </a:r>
            <a:r>
              <a:rPr sz="120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兩條主線拉鋸：</a:t>
            </a:r>
            <a:r>
              <a:rPr sz="1200" b="1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6/16</a:t>
            </a:r>
            <a:r>
              <a:rPr sz="120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 美伊臨時協議使布倫特跌破 84；</a:t>
            </a:r>
            <a:r>
              <a:rPr sz="1200" b="1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6/24</a:t>
            </a:r>
            <a:r>
              <a:rPr sz="120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 沃什主持的首場 FOMC 雖按兵不動，點陣圖卻意外轉鷹，市場將首次加息預期由 2027 年 3 月提前至 </a:t>
            </a:r>
            <a:r>
              <a:rPr sz="1200" b="1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2026 年 10 月</a:t>
            </a:r>
            <a:r>
              <a:rPr sz="120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，華爾街集體撤回降息押注。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20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到了</a:t>
            </a:r>
            <a:r>
              <a:rPr sz="1200" b="1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月底，劇情再度轉折</a:t>
            </a:r>
            <a:r>
              <a:rPr sz="120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：一方面油價尾部風險明顯消退（波斯灣出口恢復、高盛下調 Q4 布倫特至 </a:t>
            </a:r>
            <a:r>
              <a:rPr sz="1200" b="1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80 美元</a:t>
            </a:r>
            <a:r>
              <a:rPr sz="120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），宏觀轉趨平靜；另一方面市場內部掀起 </a:t>
            </a:r>
            <a:r>
              <a:rPr sz="1200" b="1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2003 年以來最大輪動</a:t>
            </a:r>
            <a:r>
              <a:rPr sz="120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——資金自擁擠的大型科技與 AI「掏錢者」，輪入小盤股、景氣循環與 AI「收錢者」（記憶體），同時 BIS 對 AI 資本支出泡沫拉響警報。</a:t>
            </a:r>
            <a:r>
              <a:rPr sz="1200" b="1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焦點正從宏觀（油價、利率）轉向微觀（AI 估值與盈餘能否兌現）</a:t>
            </a:r>
            <a:r>
              <a:rPr sz="120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406640" y="1234440"/>
            <a:ext cx="4526280" cy="5138928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06640" y="1234440"/>
            <a:ext cx="4526280" cy="402336"/>
          </a:xfrm>
          <a:prstGeom prst="rect">
            <a:avLst/>
          </a:prstGeom>
          <a:solidFill>
            <a:srgbClr val="235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19" y="1261872"/>
            <a:ext cx="4206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四週關鍵節點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19" y="1737360"/>
            <a:ext cx="10241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977B3B"/>
                </a:solidFill>
                <a:latin typeface="微軟正黑體"/>
                <a:ea typeface="微軟正黑體"/>
                <a:cs typeface="微軟正黑體"/>
              </a:rPr>
              <a:t>6/02–04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7072" y="17373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AI 熱撞上油價衝擊；GS/DB 上調標普目標至 8000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19" y="2247595"/>
            <a:ext cx="10241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977B3B"/>
                </a:solidFill>
                <a:latin typeface="微軟正黑體"/>
                <a:ea typeface="微軟正黑體"/>
                <a:cs typeface="微軟正黑體"/>
              </a:rPr>
              <a:t>6/05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7072" y="2247595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科技重挫：那指 −4.18%、費半 −10.26%，韓股熔斷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19" y="2757830"/>
            <a:ext cx="10241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977B3B"/>
                </a:solidFill>
                <a:latin typeface="微軟正黑體"/>
                <a:ea typeface="微軟正黑體"/>
                <a:cs typeface="微軟正黑體"/>
              </a:rPr>
              <a:t>6/09–11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77072" y="275783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「健康調整」非見頂；大摩流動性指標轉緊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19" y="3268065"/>
            <a:ext cx="10241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977B3B"/>
                </a:solidFill>
                <a:latin typeface="微軟正黑體"/>
                <a:ea typeface="微軟正黑體"/>
                <a:cs typeface="微軟正黑體"/>
              </a:rPr>
              <a:t>6/16–17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7072" y="3268065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美伊臨時協議，布倫特跌破 84；大型科技去擁擠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19" y="3778300"/>
            <a:ext cx="10241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977B3B"/>
                </a:solidFill>
                <a:latin typeface="微軟正黑體"/>
                <a:ea typeface="微軟正黑體"/>
                <a:cs typeface="微軟正黑體"/>
              </a:rPr>
              <a:t>6/18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77072" y="37783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擁擠度創高：做多半導體＝史上最擁擠（80%）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19" y="4288536"/>
            <a:ext cx="10241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977B3B"/>
                </a:solidFill>
                <a:latin typeface="微軟正黑體"/>
                <a:ea typeface="微軟正黑體"/>
                <a:cs typeface="微軟正黑體"/>
              </a:rPr>
              <a:t>6/24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77072" y="4288536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FOMC 鷹派轉向：首次加息預期提前至 2026/10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19" y="4798771"/>
            <a:ext cx="10241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977B3B"/>
                </a:solidFill>
                <a:latin typeface="微軟正黑體"/>
                <a:ea typeface="微軟正黑體"/>
                <a:cs typeface="微軟正黑體"/>
              </a:rPr>
              <a:t>6/25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77072" y="4798771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大摩資產配置：美股超配、偏好中期美債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19" y="5309006"/>
            <a:ext cx="10241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977B3B"/>
                </a:solidFill>
                <a:latin typeface="微軟正黑體"/>
                <a:ea typeface="微軟正黑體"/>
                <a:cs typeface="微軟正黑體"/>
              </a:rPr>
              <a:t>6/30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77072" y="5309006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高盛亞股 H2：超配北亞，KOSPI 12000、台股 51000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19" y="5819241"/>
            <a:ext cx="10241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977B3B"/>
                </a:solidFill>
                <a:latin typeface="微軟正黑體"/>
                <a:ea typeface="微軟正黑體"/>
                <a:cs typeface="微軟正黑體"/>
              </a:rPr>
              <a:t>7/01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77072" y="5819241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BIS 泡沫警報＋大輪動：掏錢者→收錢者、油價尾部消退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6547104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6A7C8D"/>
                </a:solidFill>
                <a:latin typeface="微軟正黑體"/>
                <a:ea typeface="微軟正黑體"/>
                <a:cs typeface="微軟正黑體"/>
              </a:rPr>
              <a:t>資料來源：Goldman Sachs / Morgan Stanley / Deutsche Bank / Citi / BofA / BIS / Bloomberg（PA 晨會摘要 2026/06–07）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主題一：AI 盈餘牛市 — 盈餘紮實，但「掏錢者」開始出血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24128"/>
            <a:ext cx="11640312" cy="41148"/>
          </a:xfrm>
          <a:prstGeom prst="rect">
            <a:avLst/>
          </a:prstGeom>
          <a:solidFill>
            <a:srgbClr val="BE9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234440"/>
            <a:ext cx="69037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20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本輪美股的核心驅動力，是一場被花旗稱為「史無前例」的 AI 資本開支超級週期，且有紮實盈餘背書：標普 500 第一季實際盈餘較市場共識高約 </a:t>
            </a:r>
            <a:r>
              <a:rPr sz="1200" b="1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13%</a:t>
            </a:r>
            <a:r>
              <a:rPr sz="120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，2026 年 EPS 自 320 上修至 </a:t>
            </a:r>
            <a:r>
              <a:rPr sz="1200" b="1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340–350 美元</a:t>
            </a:r>
            <a:r>
              <a:rPr sz="120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、2027 上看 </a:t>
            </a:r>
            <a:r>
              <a:rPr sz="1200" b="1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385–400</a:t>
            </a:r>
            <a:r>
              <a:rPr sz="120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；第二季盈餘增速預期更升至 </a:t>
            </a:r>
            <a:r>
              <a:rPr sz="1200" b="1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22%</a:t>
            </a:r>
            <a:r>
              <a:rPr sz="120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，為 2021 年以來季報前最高。高盛、花旗、大摩目標分別為 </a:t>
            </a:r>
            <a:r>
              <a:rPr sz="1200" b="1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8000、8100、8300 點</a:t>
            </a:r>
            <a:r>
              <a:rPr sz="120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20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但獲利高度集中、且產業鏈內部開始分化。中位數公司盈餘增速僅 </a:t>
            </a:r>
            <a:r>
              <a:rPr sz="1200" b="1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9%</a:t>
            </a:r>
            <a:r>
              <a:rPr sz="120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，AI 基礎設施貢獻標普第二季盈餘增量近 </a:t>
            </a:r>
            <a:r>
              <a:rPr sz="1200" b="1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60%</a:t>
            </a:r>
            <a:r>
              <a:rPr sz="120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，輝達與美光合計逾 </a:t>
            </a:r>
            <a:r>
              <a:rPr sz="1200" b="1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40%</a:t>
            </a:r>
            <a:r>
              <a:rPr sz="120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。更關鍵的是，6 月市場開始「投票」：AI 資本支出的「掏錢者」（超大規模雲端）單月重挫 </a:t>
            </a:r>
            <a:r>
              <a:rPr sz="1200" b="1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18%</a:t>
            </a:r>
            <a:r>
              <a:rPr sz="120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（Meta 上市以來最差），「收錢者」（記憶體籃子）卻逆勢 </a:t>
            </a:r>
            <a:r>
              <a:rPr sz="1200" b="1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+16%</a:t>
            </a:r>
            <a:r>
              <a:rPr sz="120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20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支撐「收錢者」的是記憶體超級週期：DRAM/NAND 今年創紀錄供給缺口，2027 年可能擴大、2028 年仍深度為負，為記憶體與北亞供應鏈提供多年能見度。這也解釋了為何配置上宜「重收錢者、輕掏錢者」。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406640" y="1371600"/>
          <a:ext cx="4526280" cy="396849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234440"/>
                <a:gridCol w="3291840"/>
              </a:tblGrid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指標</a:t>
                      </a:r>
                    </a:p>
                  </a:txBody>
                  <a:tcPr marL="91440" marR="73152" marT="36576" marB="36576" anchor="ctr">
                    <a:solidFill>
                      <a:srgbClr val="BE9E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現況</a:t>
                      </a:r>
                    </a:p>
                  </a:txBody>
                  <a:tcPr marL="91440" marR="73152" marT="36576" marB="36576" anchor="ctr">
                    <a:solidFill>
                      <a:srgbClr val="BE9E5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標普目標</a:t>
                      </a:r>
                    </a:p>
                  </a:txBody>
                  <a:tcPr marL="91440" marR="73152" marT="36576" marB="36576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GS 8000・Citi 8100・MS 8300</a:t>
                      </a:r>
                    </a:p>
                  </a:txBody>
                  <a:tcPr marL="91440" marR="73152" marT="36576" marB="36576" anchor="ctr">
                    <a:solidFill>
                      <a:srgbClr val="F6F3E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2026/27 EPS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340–350 / 385–400 美元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Q2 盈餘增速</a:t>
                      </a:r>
                    </a:p>
                  </a:txBody>
                  <a:tcPr marL="91440" marR="73152" marT="36576" marB="36576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22%（中位數僅 9%）</a:t>
                      </a:r>
                    </a:p>
                  </a:txBody>
                  <a:tcPr marL="91440" marR="73152" marT="36576" marB="36576" anchor="ctr">
                    <a:solidFill>
                      <a:srgbClr val="F6F3E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AI 貢獻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佔標普 Q2 盈餘增量 ~60%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集中度</a:t>
                      </a:r>
                    </a:p>
                  </a:txBody>
                  <a:tcPr marL="91440" marR="73152" marT="36576" marB="36576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輝達＋美光 &gt; 40%</a:t>
                      </a:r>
                    </a:p>
                  </a:txBody>
                  <a:tcPr marL="91440" marR="73152" marT="36576" marB="36576" anchor="ctr">
                    <a:solidFill>
                      <a:srgbClr val="F6F3E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6 月分化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掏錢者 −18% / 收錢者 +16%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74320" y="6547104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6A7C8D"/>
                </a:solidFill>
                <a:latin typeface="微軟正黑體"/>
                <a:ea typeface="微軟正黑體"/>
                <a:cs typeface="微軟正黑體"/>
              </a:rPr>
              <a:t>資料來源：Goldman Sachs / Citi / Morgan Stanley / BIS（PA 晨會摘要 2026/06–07）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主題二：通膨回溫與聯儲鷹派轉向 — 1996 還是 1999？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24128"/>
            <a:ext cx="11640312" cy="41148"/>
          </a:xfrm>
          <a:prstGeom prst="rect">
            <a:avLst/>
          </a:prstGeom>
          <a:solidFill>
            <a:srgbClr val="BE9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234440"/>
            <a:ext cx="11612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900"/>
              </a:spcAft>
            </a:pPr>
            <a:r>
              <a:rPr sz="120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這段期間最關鍵的宏觀轉折，是</a:t>
            </a:r>
            <a:r>
              <a:rPr sz="1200" b="1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通膨預期回溫與聯儲態度轉鷹</a:t>
            </a:r>
            <a:r>
              <a:rPr sz="120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。德銀以「1999 遇上 1990」形容當前處境——AI 熱潮像 1999、油價衝擊像 1990；其預測中增長僅小修、通膨卻大幅上修，迫使央行週期轉向。轉折點落在 </a:t>
            </a:r>
            <a:r>
              <a:rPr sz="1200" b="1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6/24</a:t>
            </a:r>
            <a:r>
              <a:rPr sz="120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：沃什主持的首場 FOMC 維持利率不變，但點陣圖意外轉鷹（</a:t>
            </a:r>
            <a:r>
              <a:rPr sz="1200" b="1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18 位官員中 9 位</a:t>
            </a:r>
            <a:r>
              <a:rPr sz="120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指向年內加息），並刪除「寬鬆偏向」措辭。掉期市場隨即將首次加息預期由 2027 年 3 月提前至 </a:t>
            </a:r>
            <a:r>
              <a:rPr sz="1200" b="1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2026 年 10 月</a:t>
            </a:r>
            <a:r>
              <a:rPr sz="120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，年內已定價約 </a:t>
            </a:r>
            <a:r>
              <a:rPr sz="1200" b="1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41 個基點</a:t>
            </a:r>
            <a:r>
              <a:rPr sz="120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。聯邦基金利率已在 </a:t>
            </a:r>
            <a:r>
              <a:rPr sz="1200" b="1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3.5–4.5%</a:t>
            </a:r>
            <a:r>
              <a:rPr sz="120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 區間維持逾 18 個月，市場預期至少再維持一年。</a:t>
            </a:r>
          </a:p>
          <a:p>
            <a:pPr algn="l">
              <a:lnSpc>
                <a:spcPct val="125000"/>
              </a:lnSpc>
              <a:spcAft>
                <a:spcPts val="900"/>
              </a:spcAft>
            </a:pPr>
            <a:r>
              <a:rPr sz="120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市場的核心辯論，是這輪 AI 繁榮究竟是 </a:t>
            </a:r>
            <a:r>
              <a:rPr sz="1200" b="1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1996（生產率紅利，可從容按兵不動）還是 1999（需求過熱，須預先收緊）</a:t>
            </a:r>
            <a:r>
              <a:rPr sz="120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。沃什明顯傾向 1996，但面對關稅、財政赤字擴張與全球化紅利消退，其通膨壓力大於格林斯潘當年——這使各大投行對聯儲路徑出現罕見分歧（惟月底油價回落已略微削弱加息理由）：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4315968"/>
          <a:ext cx="11640312" cy="208483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03120"/>
                <a:gridCol w="9537192"/>
              </a:tblGrid>
              <a:tr h="347472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機構</a:t>
                      </a:r>
                    </a:p>
                  </a:txBody>
                  <a:tcPr marL="91440" marR="73152" marT="36576" marB="36576" anchor="ctr">
                    <a:solidFill>
                      <a:srgbClr val="BE9E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對聯儲路徑的看法</a:t>
                      </a:r>
                    </a:p>
                  </a:txBody>
                  <a:tcPr marL="91440" marR="73152" marT="36576" marB="36576" anchor="ctr">
                    <a:solidFill>
                      <a:srgbClr val="BE9E5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美銀 BofA</a:t>
                      </a:r>
                    </a:p>
                  </a:txBody>
                  <a:tcPr marL="91440" marR="73152" marT="36576" marB="36576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年內加息 3 碼（9/10/12 月，共 +75bp）；維持「逢高減倉」</a:t>
                      </a:r>
                    </a:p>
                  </a:txBody>
                  <a:tcPr marL="91440" marR="73152" marT="36576" marB="36576" anchor="ctr">
                    <a:solidFill>
                      <a:srgbClr val="F6F3E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德銀 DB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年內加息 2 碼至 4.1%，警告 7 月可能提前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巴克萊 Barclays</a:t>
                      </a:r>
                    </a:p>
                  </a:txBody>
                  <a:tcPr marL="91440" marR="73152" marT="36576" marB="36576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建議做空美債，殖利率曲線「熊陡」，各天期目標上調約 35bp</a:t>
                      </a:r>
                    </a:p>
                  </a:txBody>
                  <a:tcPr marL="91440" marR="73152" marT="36576" marB="36576" anchor="ctr">
                    <a:solidFill>
                      <a:srgbClr val="F6F3E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花旗 Citi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逆勢，仍看降息（10/12 月、明年 1 月各 −25bp）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大摩 MS</a:t>
                      </a:r>
                    </a:p>
                  </a:txBody>
                  <a:tcPr marL="91440" marR="73152" marT="36576" marB="36576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今年按兵不動，明年第一季降息 1 碼</a:t>
                      </a:r>
                    </a:p>
                  </a:txBody>
                  <a:tcPr marL="91440" marR="73152" marT="36576" marB="36576" anchor="ctr">
                    <a:solidFill>
                      <a:srgbClr val="F6F3E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74320" y="6547104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6A7C8D"/>
                </a:solidFill>
                <a:latin typeface="微軟正黑體"/>
                <a:ea typeface="微軟正黑體"/>
                <a:cs typeface="微軟正黑體"/>
              </a:rPr>
              <a:t>資料來源：BofA / Deutsche Bank / Barclays / Citi / Morgan Stanley（PA 晨會摘要 2026/06）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主題三：油價尾部消退，利率仍是紅線 —「宏觀平靜、微觀喧囂」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24128"/>
            <a:ext cx="11640312" cy="41148"/>
          </a:xfrm>
          <a:prstGeom prst="rect">
            <a:avLst/>
          </a:prstGeom>
          <a:solidFill>
            <a:srgbClr val="BE9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234440"/>
            <a:ext cx="69037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20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油價曾是這輪行情的「總開關」：伊朗戰爭下，德銀設定基準布倫特 </a:t>
            </a:r>
            <a:r>
              <a:rPr sz="1200" b="1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86</a:t>
            </a:r>
            <a:r>
              <a:rPr sz="120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、事故情境 </a:t>
            </a:r>
            <a:r>
              <a:rPr sz="1200" b="1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150</a:t>
            </a:r>
            <a:r>
              <a:rPr sz="120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。但 </a:t>
            </a:r>
            <a:r>
              <a:rPr sz="1200" b="1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6/16</a:t>
            </a:r>
            <a:r>
              <a:rPr sz="120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 美伊臨時協議後情勢逐步緩解——月底波斯灣石油出口已恢復至正常水準的 </a:t>
            </a:r>
            <a:r>
              <a:rPr sz="1200" b="1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66%</a:t>
            </a:r>
            <a:r>
              <a:rPr sz="120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，高盛將第四季布倫特預測下調至 </a:t>
            </a:r>
            <a:r>
              <a:rPr sz="1200" b="1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80 美元</a:t>
            </a:r>
            <a:r>
              <a:rPr sz="120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，10 年期盈虧平衡通膨降至一年多低點、G10 外匯波動更跌至五年低位。</a:t>
            </a:r>
            <a:r>
              <a:rPr sz="1200" b="1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油價這個最大的宏觀尾部風險，正明顯消退</a:t>
            </a:r>
            <a:r>
              <a:rPr sz="120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20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利率則仍是紅線：高盛視 </a:t>
            </a:r>
            <a:r>
              <a:rPr sz="1200" b="1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10 年期美債 5%</a:t>
            </a:r>
            <a:r>
              <a:rPr sz="120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 為股市估值的臨界，目前尚未觸及；聯邦基金利率預期在 3.5–4.5% 續守，但未來 2–3 個月聯儲鷹派風險仍會擾動資產。財政赤字近 GDP </a:t>
            </a:r>
            <a:r>
              <a:rPr sz="1200" b="1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6.6%</a:t>
            </a:r>
            <a:r>
              <a:rPr sz="120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、長端供給壓力使曲線維持熊平。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20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宏觀噪音下降的結果，是市場進入</a:t>
            </a:r>
            <a:r>
              <a:rPr sz="1200" b="1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「宏觀平靜、微觀喧囂」</a:t>
            </a:r>
            <a:r>
              <a:rPr sz="120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格局：下檔風險的主角，已從油價與 CPI，換成 AI 估值、盈餘持續性與資本支出回報。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406640" y="1371600"/>
            <a:ext cx="4526280" cy="1371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06640" y="1371600"/>
            <a:ext cx="4526280" cy="457200"/>
          </a:xfrm>
          <a:prstGeom prst="rect">
            <a:avLst/>
          </a:prstGeom>
          <a:solidFill>
            <a:srgbClr val="977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06640" y="1371600"/>
            <a:ext cx="64008" cy="1371600"/>
          </a:xfrm>
          <a:prstGeom prst="rect">
            <a:avLst/>
          </a:prstGeom>
          <a:solidFill>
            <a:srgbClr val="977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71231" y="1417320"/>
            <a:ext cx="42519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油價：尾部消退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71231" y="1938528"/>
            <a:ext cx="4215384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10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· 波斯灣出口回升至正常 66%</a:t>
            </a:r>
          </a:p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10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· GS 下調 Q4 布倫特至 80（基準曾 86 / 尾部 150）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06640" y="2907792"/>
            <a:ext cx="4526280" cy="1371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06640" y="2907792"/>
            <a:ext cx="4526280" cy="457200"/>
          </a:xfrm>
          <a:prstGeom prst="rect">
            <a:avLst/>
          </a:prstGeom>
          <a:solidFill>
            <a:srgbClr val="235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06640" y="2907792"/>
            <a:ext cx="64008" cy="1371600"/>
          </a:xfrm>
          <a:prstGeom prst="rect">
            <a:avLst/>
          </a:prstGeom>
          <a:solidFill>
            <a:srgbClr val="235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71231" y="2953512"/>
            <a:ext cx="42519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利率：仍是紅線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71231" y="3474720"/>
            <a:ext cx="4215384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10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· 10 年期美債 5% ＝股市紅線</a:t>
            </a:r>
          </a:p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10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· Fed funds 3.5–4.5% 續守；曲線熊平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4443984"/>
            <a:ext cx="4526280" cy="1371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06640" y="4443984"/>
            <a:ext cx="4526280" cy="457200"/>
          </a:xfrm>
          <a:prstGeom prst="rect">
            <a:avLst/>
          </a:prstGeom>
          <a:solidFill>
            <a:srgbClr val="B14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06640" y="4443984"/>
            <a:ext cx="64008" cy="1371600"/>
          </a:xfrm>
          <a:prstGeom prst="rect">
            <a:avLst/>
          </a:prstGeom>
          <a:solidFill>
            <a:srgbClr val="B14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71231" y="4489704"/>
            <a:ext cx="42519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格局轉變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71231" y="5010912"/>
            <a:ext cx="4215384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10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· 宏觀平靜、微觀喧囂</a:t>
            </a:r>
          </a:p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10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· 焦點：油價 CPI → AI 估值與盈餘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6547104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6A7C8D"/>
                </a:solidFill>
                <a:latin typeface="微軟正黑體"/>
                <a:ea typeface="微軟正黑體"/>
                <a:cs typeface="微軟正黑體"/>
              </a:rPr>
              <a:t>資料來源：Deutsche Bank / Goldman Sachs / Bloomberg（PA 晨會摘要 2026/06–07）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主題四：2003 年以來最大輪動 —「掏錢者→收錢者、大盤→小盤」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24128"/>
            <a:ext cx="11640312" cy="41148"/>
          </a:xfrm>
          <a:prstGeom prst="rect">
            <a:avLst/>
          </a:prstGeom>
          <a:solidFill>
            <a:srgbClr val="BE9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234440"/>
            <a:ext cx="69037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20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六月底至七月初，美股掀起 </a:t>
            </a:r>
            <a:r>
              <a:rPr sz="1200" b="1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2003 年以來最大的結構性輪動</a:t>
            </a:r>
            <a:r>
              <a:rPr sz="120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。資金自擁擠的大型科技／半導體與 AI「掏錢者」（超大規模雲端），輪入</a:t>
            </a:r>
            <a:r>
              <a:rPr sz="1200" b="1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小盤股、生技、航空旅遊、住房、REITs 與區域銀行</a:t>
            </a:r>
            <a:r>
              <a:rPr sz="120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，以及 AI 產業鏈的「收錢者」（記憶體）。羅素 2000 對標普 500 的年初至今超額已達約 </a:t>
            </a:r>
            <a:r>
              <a:rPr sz="1200" b="1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1,240 個基點</a:t>
            </a:r>
            <a:r>
              <a:rPr sz="120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——若延續至年末，將是 2003 年以來最大的年度超額。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20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背後是對 AI 資本支出的重新定價。全球五大超大規模雲端 2025–26 年資本支出合計逾 </a:t>
            </a:r>
            <a:r>
              <a:rPr sz="1200" b="1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1 兆美元</a:t>
            </a:r>
            <a:r>
              <a:rPr sz="120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，BIS 因而拉響警報：對照 1840 年代鐵路熱與 1990 年代末網路泡沫，均源於真實技術突破、卻吸引超出回報所能支撐的資本。安聯亦將 SpaceX 完成 860 億美元 IPO 後再啟 250 億美元債券發行，視為進入「泡沫區域」的訊號。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20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這並非泡沫破裂的定論，而是</a:t>
            </a:r>
            <a:r>
              <a:rPr sz="1200" b="1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機率分布的位移</a:t>
            </a:r>
            <a:r>
              <a:rPr sz="120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——上行驚喜門檻升高、下行尾部觸發條件降低。倉位顯示：超大規模雲端多頭已降至近三年低點、AI 基礎設施多頭處近三年高位，對沖基金淨賣美股速度創「關稅日」以來最快，但淨敞口仍高居第 </a:t>
            </a:r>
            <a:r>
              <a:rPr sz="1200" b="1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87 百分位</a:t>
            </a:r>
            <a:r>
              <a:rPr sz="120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，部位並不輕盈。對策：</a:t>
            </a:r>
            <a:r>
              <a:rPr sz="1200" b="1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續抱股票多頭、同時以期權／做多波動率保護下行</a:t>
            </a:r>
            <a:r>
              <a:rPr sz="120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406640" y="1371600"/>
            <a:ext cx="4526280" cy="109728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06640" y="1371600"/>
            <a:ext cx="54864" cy="1097280"/>
          </a:xfrm>
          <a:prstGeom prst="rect">
            <a:avLst/>
          </a:prstGeom>
          <a:solidFill>
            <a:srgbClr val="235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2944" y="1444752"/>
            <a:ext cx="43068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700" b="1">
                <a:solidFill>
                  <a:srgbClr val="235173"/>
                </a:solidFill>
                <a:latin typeface="微軟正黑體"/>
                <a:ea typeface="微軟正黑體"/>
                <a:cs typeface="微軟正黑體"/>
              </a:rPr>
              <a:t>+1,240bp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52944" y="1883664"/>
            <a:ext cx="430682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羅素 2000 vs 標普 YTD 超額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2578608"/>
            <a:ext cx="4526280" cy="109728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06640" y="2578608"/>
            <a:ext cx="54864" cy="1097280"/>
          </a:xfrm>
          <a:prstGeom prst="rect">
            <a:avLst/>
          </a:prstGeom>
          <a:solidFill>
            <a:srgbClr val="B14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52944" y="2651760"/>
            <a:ext cx="43068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700" b="1">
                <a:solidFill>
                  <a:srgbClr val="B14A42"/>
                </a:solidFill>
                <a:latin typeface="微軟正黑體"/>
                <a:ea typeface="微軟正黑體"/>
                <a:cs typeface="微軟正黑體"/>
              </a:rPr>
              <a:t>−18% / +16%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52944" y="3090672"/>
            <a:ext cx="430682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6 月 掏錢者 / 收錢者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06640" y="3785616"/>
            <a:ext cx="4526280" cy="109728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06640" y="3785616"/>
            <a:ext cx="54864" cy="1097280"/>
          </a:xfrm>
          <a:prstGeom prst="rect">
            <a:avLst/>
          </a:prstGeom>
          <a:solidFill>
            <a:srgbClr val="977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52944" y="3858768"/>
            <a:ext cx="43068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700" b="1">
                <a:solidFill>
                  <a:srgbClr val="977B3B"/>
                </a:solidFill>
                <a:latin typeface="微軟正黑體"/>
                <a:ea typeface="微軟正黑體"/>
                <a:cs typeface="微軟正黑體"/>
              </a:rPr>
              <a:t>&gt; $1 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52944" y="4297680"/>
            <a:ext cx="430682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五大雲端 25–26 資本支出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06640" y="4992624"/>
            <a:ext cx="4526280" cy="109728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06640" y="4992624"/>
            <a:ext cx="54864" cy="1097280"/>
          </a:xfrm>
          <a:prstGeom prst="rect">
            <a:avLst/>
          </a:prstGeom>
          <a:solidFill>
            <a:srgbClr val="235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52944" y="5065776"/>
            <a:ext cx="43068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700" b="1">
                <a:solidFill>
                  <a:srgbClr val="235173"/>
                </a:solidFill>
                <a:latin typeface="微軟正黑體"/>
                <a:ea typeface="微軟正黑體"/>
                <a:cs typeface="微軟正黑體"/>
              </a:rPr>
              <a:t>87th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52944" y="5504688"/>
            <a:ext cx="430682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對沖基金淨敞口百分位（仍高）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6547104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6A7C8D"/>
                </a:solidFill>
                <a:latin typeface="微軟正黑體"/>
                <a:ea typeface="微軟正黑體"/>
                <a:cs typeface="微軟正黑體"/>
              </a:rPr>
              <a:t>資料來源：Goldman Sachs / BIS / Allianz / Bloomberg（PA 晨會摘要 2026/07/01）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區域分化與市場溫度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24128"/>
            <a:ext cx="11640312" cy="41148"/>
          </a:xfrm>
          <a:prstGeom prst="rect">
            <a:avLst/>
          </a:prstGeom>
          <a:solidFill>
            <a:srgbClr val="BE9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207008"/>
            <a:ext cx="116128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各區域分化明顯：</a:t>
            </a:r>
            <a:r>
              <a:rPr sz="1200" b="1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美國</a:t>
            </a:r>
            <a:r>
              <a:rPr sz="120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最具韌性但廣度外擴；</a:t>
            </a:r>
            <a:r>
              <a:rPr sz="1200" b="1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歐洲</a:t>
            </a:r>
            <a:r>
              <a:rPr sz="120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最弱、近技術性衰退；</a:t>
            </a:r>
            <a:r>
              <a:rPr sz="1200" b="1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亞洲（除日）為最大亮點</a:t>
            </a:r>
            <a:r>
              <a:rPr sz="120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——上半年 MXAPJ </a:t>
            </a:r>
            <a:r>
              <a:rPr sz="1200" b="1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+21%</a:t>
            </a:r>
            <a:r>
              <a:rPr sz="120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，韓國 </a:t>
            </a:r>
            <a:r>
              <a:rPr sz="1200" b="1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+119%</a:t>
            </a:r>
            <a:r>
              <a:rPr sz="120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、台灣 </a:t>
            </a:r>
            <a:r>
              <a:rPr sz="1200" b="1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+56%</a:t>
            </a:r>
            <a:r>
              <a:rPr sz="120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 領漲，高盛下半年「超配北亞」並給出 KOSPI </a:t>
            </a:r>
            <a:r>
              <a:rPr sz="1200" b="1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12,000</a:t>
            </a:r>
            <a:r>
              <a:rPr sz="120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、台股 </a:t>
            </a:r>
            <a:r>
              <a:rPr sz="1200" b="1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51,000</a:t>
            </a:r>
            <a:r>
              <a:rPr sz="120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 的目標；</a:t>
            </a:r>
            <a:r>
              <a:rPr sz="1200" b="1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日本</a:t>
            </a:r>
            <a:r>
              <a:rPr sz="120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受油價與匯率影響、</a:t>
            </a:r>
            <a:r>
              <a:rPr sz="1200" b="1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中國</a:t>
            </a:r>
            <a:r>
              <a:rPr sz="120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資金面偏弱。與此同時，情緒與擁擠度在月中觸頂後開始去化，但淨部位仍不輕盈。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2880360"/>
          <a:ext cx="6812280" cy="27432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143000"/>
                <a:gridCol w="2148840"/>
                <a:gridCol w="3520440"/>
              </a:tblGrid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區域</a:t>
                      </a:r>
                    </a:p>
                  </a:txBody>
                  <a:tcPr marL="91440" marR="73152" marT="36576" marB="36576" anchor="ctr">
                    <a:solidFill>
                      <a:srgbClr val="BE9E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觀點</a:t>
                      </a:r>
                    </a:p>
                  </a:txBody>
                  <a:tcPr marL="91440" marR="73152" marT="36576" marB="36576" anchor="ctr">
                    <a:solidFill>
                      <a:srgbClr val="BE9E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關鍵數據</a:t>
                      </a:r>
                    </a:p>
                  </a:txBody>
                  <a:tcPr marL="91440" marR="73152" marT="36576" marB="36576" anchor="ctr">
                    <a:solidFill>
                      <a:srgbClr val="BE9E5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美國</a:t>
                      </a:r>
                    </a:p>
                  </a:txBody>
                  <a:tcPr marL="91440" marR="73152" marT="36576" marB="36576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韌性，廣度外擴</a:t>
                      </a:r>
                    </a:p>
                  </a:txBody>
                  <a:tcPr marL="91440" marR="73152" marT="36576" marB="36576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Q2 盈餘 22%（中位數 9%）</a:t>
                      </a:r>
                    </a:p>
                  </a:txBody>
                  <a:tcPr marL="91440" marR="73152" marT="36576" marB="36576" anchor="ctr">
                    <a:solidFill>
                      <a:srgbClr val="F6F3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亞洲(除日)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最大亮點，超配北亞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H1 MXAPJ +21%；韓+119%/台+56%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韓國/台灣</a:t>
                      </a:r>
                    </a:p>
                  </a:txBody>
                  <a:tcPr marL="91440" marR="73152" marT="36576" marB="36576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GS 明確超配</a:t>
                      </a:r>
                    </a:p>
                  </a:txBody>
                  <a:tcPr marL="91440" marR="73152" marT="36576" marB="36576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KOSPI 12000、台股 51000 目標</a:t>
                      </a:r>
                    </a:p>
                  </a:txBody>
                  <a:tcPr marL="91440" marR="73152" marT="36576" marB="36576" anchor="ctr">
                    <a:solidFill>
                      <a:srgbClr val="F6F3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歐洲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最弱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2026 GDP 0.5%；近技術性衰退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亞洲低配</a:t>
                      </a:r>
                    </a:p>
                  </a:txBody>
                  <a:tcPr marL="91440" marR="73152" marT="36576" marB="36576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GS：澳/泰/印尼/菲</a:t>
                      </a:r>
                    </a:p>
                  </a:txBody>
                  <a:tcPr marL="91440" marR="73152" marT="36576" marB="36576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中國 A 超配；星港印中性</a:t>
                      </a:r>
                    </a:p>
                  </a:txBody>
                  <a:tcPr marL="91440" marR="73152" marT="36576" marB="36576" anchor="ctr">
                    <a:solidFill>
                      <a:srgbClr val="F6F3EC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269480" y="2880360"/>
            <a:ext cx="2286000" cy="1024128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269480" y="2880360"/>
            <a:ext cx="54864" cy="1024128"/>
          </a:xfrm>
          <a:prstGeom prst="rect">
            <a:avLst/>
          </a:prstGeom>
          <a:solidFill>
            <a:srgbClr val="977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15783" y="2953512"/>
            <a:ext cx="206654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700" b="1">
                <a:solidFill>
                  <a:srgbClr val="977B3B"/>
                </a:solidFill>
                <a:latin typeface="微軟正黑體"/>
                <a:ea typeface="微軟正黑體"/>
                <a:cs typeface="微軟正黑體"/>
              </a:rPr>
              <a:t>39%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15783" y="3392424"/>
            <a:ext cx="2066543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AI 股佔標普權重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28632" y="2880360"/>
            <a:ext cx="2286000" cy="1024128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628632" y="2880360"/>
            <a:ext cx="54864" cy="1024128"/>
          </a:xfrm>
          <a:prstGeom prst="rect">
            <a:avLst/>
          </a:prstGeom>
          <a:solidFill>
            <a:srgbClr val="235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74936" y="2953512"/>
            <a:ext cx="206654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700" b="1">
                <a:solidFill>
                  <a:srgbClr val="235173"/>
                </a:solidFill>
                <a:latin typeface="微軟正黑體"/>
                <a:ea typeface="微軟正黑體"/>
                <a:cs typeface="微軟正黑體"/>
              </a:rPr>
              <a:t>22%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74936" y="3392424"/>
            <a:ext cx="2066543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Q2 盈餘增速(中位僅9%)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69480" y="3995928"/>
            <a:ext cx="2286000" cy="1024128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269480" y="3995928"/>
            <a:ext cx="54864" cy="1024128"/>
          </a:xfrm>
          <a:prstGeom prst="rect">
            <a:avLst/>
          </a:prstGeom>
          <a:solidFill>
            <a:srgbClr val="B14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15783" y="4069080"/>
            <a:ext cx="206654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700" b="1">
                <a:solidFill>
                  <a:srgbClr val="B14A42"/>
                </a:solidFill>
                <a:latin typeface="微軟正黑體"/>
                <a:ea typeface="微軟正黑體"/>
                <a:cs typeface="微軟正黑體"/>
              </a:rPr>
              <a:t>9.2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15783" y="4507992"/>
            <a:ext cx="2066543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美銀牛熊(賣出區)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28632" y="3995928"/>
            <a:ext cx="2286000" cy="1024128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628632" y="3995928"/>
            <a:ext cx="54864" cy="1024128"/>
          </a:xfrm>
          <a:prstGeom prst="rect">
            <a:avLst/>
          </a:prstGeom>
          <a:solidFill>
            <a:srgbClr val="235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74936" y="4069080"/>
            <a:ext cx="206654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700" b="1">
                <a:solidFill>
                  <a:srgbClr val="235173"/>
                </a:solidFill>
                <a:latin typeface="微軟正黑體"/>
                <a:ea typeface="微軟正黑體"/>
                <a:cs typeface="微軟正黑體"/>
              </a:rPr>
              <a:t>4.1%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74936" y="4507992"/>
            <a:ext cx="2066543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平均現金水位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69480" y="5111496"/>
            <a:ext cx="2286000" cy="1024128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269480" y="5111496"/>
            <a:ext cx="54864" cy="1024128"/>
          </a:xfrm>
          <a:prstGeom prst="rect">
            <a:avLst/>
          </a:prstGeom>
          <a:solidFill>
            <a:srgbClr val="B14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15783" y="5184648"/>
            <a:ext cx="206654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700" b="1">
                <a:solidFill>
                  <a:srgbClr val="B14A42"/>
                </a:solidFill>
                <a:latin typeface="微軟正黑體"/>
                <a:ea typeface="微軟正黑體"/>
                <a:cs typeface="微軟正黑體"/>
              </a:rPr>
              <a:t>87th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15783" y="5623560"/>
            <a:ext cx="2066543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對沖基金淨敞口(仍高)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28632" y="5111496"/>
            <a:ext cx="2286000" cy="1024128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628632" y="5111496"/>
            <a:ext cx="54864" cy="1024128"/>
          </a:xfrm>
          <a:prstGeom prst="rect">
            <a:avLst/>
          </a:prstGeom>
          <a:solidFill>
            <a:srgbClr val="977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74936" y="5184648"/>
            <a:ext cx="206654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700" b="1">
                <a:solidFill>
                  <a:srgbClr val="977B3B"/>
                </a:solidFill>
                <a:latin typeface="微軟正黑體"/>
                <a:ea typeface="微軟正黑體"/>
                <a:cs typeface="微軟正黑體"/>
              </a:rPr>
              <a:t>28%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74936" y="5623560"/>
            <a:ext cx="2066543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視 AI 泡沫為首要尾部風險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" y="6547104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6A7C8D"/>
                </a:solidFill>
                <a:latin typeface="微軟正黑體"/>
                <a:ea typeface="微軟正黑體"/>
                <a:cs typeface="微軟正黑體"/>
              </a:rPr>
              <a:t>資料來源：Goldman Sachs / Morgan Stanley / BofA / Bloomberg（PA 晨會摘要 2026/06–07）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結論與資產配置建議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24128"/>
            <a:ext cx="11640312" cy="41148"/>
          </a:xfrm>
          <a:prstGeom prst="rect">
            <a:avLst/>
          </a:prstGeom>
          <a:solidFill>
            <a:srgbClr val="BE9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207008"/>
            <a:ext cx="116128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綜合四週觀點，基調由「建設性、但防禦微調」進一步演化為</a:t>
            </a:r>
            <a:r>
              <a:rPr sz="1200" b="1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「續抱多頭、但加速廣度輪動並強化下行保護」</a:t>
            </a:r>
            <a:r>
              <a:rPr sz="120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：油價尾部消退令宏觀轉平靜，但 AI 資本支出的回報與泡沫疑慮成為新的核心風險。宜順勢參與輪動、降低對擁擠「掏錢者」的集中、並以波動率／期權對沖。具體配置：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542032"/>
            <a:ext cx="3703320" cy="347472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2542032"/>
            <a:ext cx="3703320" cy="457200"/>
          </a:xfrm>
          <a:prstGeom prst="rect">
            <a:avLst/>
          </a:prstGeom>
          <a:solidFill>
            <a:srgbClr val="3F7D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2542032"/>
            <a:ext cx="64008" cy="3474720"/>
          </a:xfrm>
          <a:prstGeom prst="rect">
            <a:avLst/>
          </a:prstGeom>
          <a:solidFill>
            <a:srgbClr val="3F7D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2587751"/>
            <a:ext cx="34290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▲  增持 OVERWEIGHT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3108960"/>
            <a:ext cx="3392424" cy="281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10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· 北亞：韓國・台灣・日本（＋中國 A）— GS 超配、晶片超級週期</a:t>
            </a:r>
          </a:p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10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· AI「收錢者」記憶體 ＞「掏錢者」超大規模雲端</a:t>
            </a:r>
          </a:p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10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· 輪動受益：小盤股、生技、景氣循環（航空/旅遊/REITs/區域銀行）</a:t>
            </a:r>
          </a:p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10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· 中期美債；美股金融・工業・醫療（廣度外擴）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42816" y="2542032"/>
            <a:ext cx="3703320" cy="347472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42816" y="2542032"/>
            <a:ext cx="3703320" cy="457200"/>
          </a:xfrm>
          <a:prstGeom prst="rect">
            <a:avLst/>
          </a:prstGeom>
          <a:solidFill>
            <a:srgbClr val="B14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42816" y="2542032"/>
            <a:ext cx="64008" cy="3474720"/>
          </a:xfrm>
          <a:prstGeom prst="rect">
            <a:avLst/>
          </a:prstGeom>
          <a:solidFill>
            <a:srgbClr val="B14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07407" y="2587751"/>
            <a:ext cx="34290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▼  減持 UNDERWEIGHT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7407" y="3108960"/>
            <a:ext cx="3392424" cy="281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10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· 擁擠的超大規模雲端「掏錢者」/ 大盤 AI 集中部位</a:t>
            </a:r>
          </a:p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10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· 長天期債券：熊陡，10Y 逼近 5%</a:t>
            </a:r>
          </a:p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10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· 亞洲低配：澳洲・泰國・印尼・菲律賓（GS）</a:t>
            </a:r>
          </a:p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10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· 歐洲股票 / 信用；日圓 / 未對沖日股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11312" y="2542032"/>
            <a:ext cx="3703320" cy="347472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11312" y="2542032"/>
            <a:ext cx="3703320" cy="457200"/>
          </a:xfrm>
          <a:prstGeom prst="rect">
            <a:avLst/>
          </a:prstGeom>
          <a:solidFill>
            <a:srgbClr val="977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11312" y="2542032"/>
            <a:ext cx="64008" cy="3474720"/>
          </a:xfrm>
          <a:prstGeom prst="rect">
            <a:avLst/>
          </a:prstGeom>
          <a:solidFill>
            <a:srgbClr val="977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75904" y="2587751"/>
            <a:ext cx="34290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●  中性 / 戰術 NEUTRAL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5904" y="3108960"/>
            <a:ext cx="3392424" cy="281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10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· 波動率 / 期權：BIS 泡沫警報下的下行保護（升級）</a:t>
            </a:r>
          </a:p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10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· 黃金：對沖；現金：~4% 緩衝</a:t>
            </a:r>
          </a:p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10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· 離岸中國 / 印度 / 星港：待盈利改善（GS 中性）</a:t>
            </a:r>
          </a:p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10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· 歐洲能源股：Hormuz 重啟 → 中性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6144768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00" b="0">
                <a:solidFill>
                  <a:srgbClr val="6A7C8D"/>
                </a:solidFill>
                <a:latin typeface="微軟正黑體"/>
                <a:ea typeface="微軟正黑體"/>
                <a:cs typeface="微軟正黑體"/>
              </a:rPr>
              <a:t>※ 上述為彙整各投行研究之整合視角，非個別投資建議；花旗 / 大摩對聯儲路徑（仍見降息）與多數機構（轉向加息）存在分歧，請依自身風險屬性判讀。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下一步：關鍵觀察點與風險地圖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24128"/>
            <a:ext cx="11640312" cy="41148"/>
          </a:xfrm>
          <a:prstGeom prst="rect">
            <a:avLst/>
          </a:prstGeom>
          <a:solidFill>
            <a:srgbClr val="BE9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207008"/>
            <a:ext cx="11612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隨油價尾部消退，焦點轉向 AI 微觀與輪動能否延續。以下六個變數將決定劇本走向（1996 軟著陸 vs 1999 過熱），建議作為動態調整的觸發點：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286000"/>
            <a:ext cx="3776472" cy="1627632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2286000"/>
            <a:ext cx="3776472" cy="64008"/>
          </a:xfrm>
          <a:prstGeom prst="rect">
            <a:avLst/>
          </a:prstGeom>
          <a:solidFill>
            <a:srgbClr val="977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2286000"/>
            <a:ext cx="64008" cy="1627632"/>
          </a:xfrm>
          <a:prstGeom prst="rect">
            <a:avLst/>
          </a:prstGeom>
          <a:solidFill>
            <a:srgbClr val="977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414016"/>
            <a:ext cx="34655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00" b="1">
                <a:solidFill>
                  <a:srgbClr val="977B3B"/>
                </a:solidFill>
                <a:latin typeface="微軟正黑體"/>
                <a:ea typeface="微軟正黑體"/>
                <a:cs typeface="微軟正黑體"/>
              </a:rPr>
              <a:t>Q2 財報（7 月底）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52928"/>
            <a:ext cx="3447288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AI 資本支出能否轉化為實質營收——輝達/美光/雲端指引是關鍵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0" y="2286000"/>
            <a:ext cx="3776472" cy="1627632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0" y="2286000"/>
            <a:ext cx="3776472" cy="64008"/>
          </a:xfrm>
          <a:prstGeom prst="rect">
            <a:avLst/>
          </a:prstGeom>
          <a:solidFill>
            <a:srgbClr val="B14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0" y="2286000"/>
            <a:ext cx="64008" cy="1627632"/>
          </a:xfrm>
          <a:prstGeom prst="rect">
            <a:avLst/>
          </a:prstGeom>
          <a:solidFill>
            <a:srgbClr val="B14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2414016"/>
            <a:ext cx="34655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00" b="1">
                <a:solidFill>
                  <a:srgbClr val="B14A42"/>
                </a:solidFill>
                <a:latin typeface="微軟正黑體"/>
                <a:ea typeface="微軟正黑體"/>
                <a:cs typeface="微軟正黑體"/>
              </a:rPr>
              <a:t>融資條件（BIS）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852928"/>
            <a:ext cx="3447288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若回報不及預期，融資可能驟緊、令 capex 繁榮急轉直下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55280" y="2286000"/>
            <a:ext cx="3776472" cy="1627632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55280" y="2286000"/>
            <a:ext cx="3776472" cy="64008"/>
          </a:xfrm>
          <a:prstGeom prst="rect">
            <a:avLst/>
          </a:prstGeom>
          <a:solidFill>
            <a:srgbClr val="235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55280" y="2286000"/>
            <a:ext cx="64008" cy="1627632"/>
          </a:xfrm>
          <a:prstGeom prst="rect">
            <a:avLst/>
          </a:prstGeom>
          <a:solidFill>
            <a:srgbClr val="235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0" y="2414016"/>
            <a:ext cx="34655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00" b="1">
                <a:solidFill>
                  <a:srgbClr val="235173"/>
                </a:solidFill>
                <a:latin typeface="微軟正黑體"/>
                <a:ea typeface="微軟正黑體"/>
                <a:cs typeface="微軟正黑體"/>
              </a:rPr>
              <a:t>大輪動的持續性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2852928"/>
            <a:ext cx="3447288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小盤/循環 vs 大盤科技：是新主線，還是 AI 引擎的短暫喘息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023360"/>
            <a:ext cx="3776472" cy="1627632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4023360"/>
            <a:ext cx="3776472" cy="64008"/>
          </a:xfrm>
          <a:prstGeom prst="rect">
            <a:avLst/>
          </a:prstGeom>
          <a:solidFill>
            <a:srgbClr val="235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4023360"/>
            <a:ext cx="64008" cy="1627632"/>
          </a:xfrm>
          <a:prstGeom prst="rect">
            <a:avLst/>
          </a:prstGeom>
          <a:solidFill>
            <a:srgbClr val="235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151376"/>
            <a:ext cx="34655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00" b="1">
                <a:solidFill>
                  <a:srgbClr val="235173"/>
                </a:solidFill>
                <a:latin typeface="微軟正黑體"/>
                <a:ea typeface="微軟正黑體"/>
                <a:cs typeface="微軟正黑體"/>
              </a:rPr>
              <a:t>10 年期美債 / Fed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590288"/>
            <a:ext cx="3447288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5% 紅線；Fed 3.5–4.5% 續守，未來 2–3 月鷹派風險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0" y="4023360"/>
            <a:ext cx="3776472" cy="1627632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14800" y="4023360"/>
            <a:ext cx="3776472" cy="64008"/>
          </a:xfrm>
          <a:prstGeom prst="rect">
            <a:avLst/>
          </a:prstGeom>
          <a:solidFill>
            <a:srgbClr val="977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14800" y="4023360"/>
            <a:ext cx="64008" cy="1627632"/>
          </a:xfrm>
          <a:prstGeom prst="rect">
            <a:avLst/>
          </a:prstGeom>
          <a:solidFill>
            <a:srgbClr val="977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97680" y="4151376"/>
            <a:ext cx="34655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00" b="1">
                <a:solidFill>
                  <a:srgbClr val="977B3B"/>
                </a:solidFill>
                <a:latin typeface="微軟正黑體"/>
                <a:ea typeface="微軟正黑體"/>
                <a:cs typeface="微軟正黑體"/>
              </a:rPr>
              <a:t>東西成本之爭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0" y="4590288"/>
            <a:ext cx="3447288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GLM-5.2 全程未用輝達晶片，挑戰「capex 須持續擴張」假設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955280" y="4023360"/>
            <a:ext cx="3776472" cy="1627632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55280" y="4023360"/>
            <a:ext cx="3776472" cy="64008"/>
          </a:xfrm>
          <a:prstGeom prst="rect">
            <a:avLst/>
          </a:prstGeom>
          <a:solidFill>
            <a:srgbClr val="B14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955280" y="4023360"/>
            <a:ext cx="64008" cy="1627632"/>
          </a:xfrm>
          <a:prstGeom prst="rect">
            <a:avLst/>
          </a:prstGeom>
          <a:solidFill>
            <a:srgbClr val="B14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38160" y="4151376"/>
            <a:ext cx="34655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00" b="1">
                <a:solidFill>
                  <a:srgbClr val="B14A42"/>
                </a:solidFill>
                <a:latin typeface="微軟正黑體"/>
                <a:ea typeface="微軟正黑體"/>
                <a:cs typeface="微軟正黑體"/>
              </a:rPr>
              <a:t>集中度風險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0" y="4590288"/>
            <a:ext cx="3447288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222222"/>
                </a:solidFill>
                <a:latin typeface="微軟正黑體"/>
                <a:ea typeface="微軟正黑體"/>
                <a:cs typeface="微軟正黑體"/>
              </a:rPr>
              <a:t>輝達＋美光 &gt;40% 貢獻；「掏錢者」若減支出即為斷裂點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6053328"/>
            <a:ext cx="11640312" cy="457200"/>
          </a:xfrm>
          <a:prstGeom prst="rect">
            <a:avLst/>
          </a:prstGeom>
          <a:solidFill>
            <a:srgbClr val="235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6089904"/>
            <a:ext cx="113385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底線：宏觀轉平靜、微觀更喧囂 —— 參與輪動、分散集中、以波動率對沖，緊盯 AI 資本支出的回報兌現。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https://www.freeppt7.com">
  <a:themeElements>
    <a:clrScheme name="自訂 5">
      <a:dk1>
        <a:sysClr val="windowText" lastClr="000000"/>
      </a:dk1>
      <a:lt1>
        <a:sysClr val="window" lastClr="FFFFFF"/>
      </a:lt1>
      <a:dk2>
        <a:srgbClr val="235173"/>
      </a:dk2>
      <a:lt2>
        <a:srgbClr val="6A7C8D"/>
      </a:lt2>
      <a:accent1>
        <a:srgbClr val="DAE3F3"/>
      </a:accent1>
      <a:accent2>
        <a:srgbClr val="977B3B"/>
      </a:accent2>
      <a:accent3>
        <a:srgbClr val="D9C79F"/>
      </a:accent3>
      <a:accent4>
        <a:srgbClr val="BE9E5A"/>
      </a:accent4>
      <a:accent5>
        <a:srgbClr val="4472C4"/>
      </a:accent5>
      <a:accent6>
        <a:srgbClr val="03D3CF"/>
      </a:accent6>
      <a:hlink>
        <a:srgbClr val="0563C1"/>
      </a:hlink>
      <a:folHlink>
        <a:srgbClr val="954F72"/>
      </a:folHlink>
    </a:clrScheme>
    <a:fontScheme name="Tw Cen MT">
      <a:majorFont>
        <a:latin typeface="微軟正黑體" panose="020B0602020104020603"/>
        <a:ea typeface="微軟正黑體"/>
        <a:cs typeface="微軟正黑體"/>
        <a:font script="Grek" typeface="Calibri"/>
        <a:font script="Cyrl" typeface="Calibri"/>
        <a:font script="Jpan" typeface="HGPｺﾞｼｯｸE"/>
        <a:font script="Hang" typeface="HY얕은샘물M"/>
        <a:font script="Hans" typeface="微軟正黑體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微軟正黑體" panose="020B0602020104020603"/>
        <a:ea typeface="微軟正黑體"/>
        <a:cs typeface="微軟正黑體"/>
        <a:font script="Grek" typeface="Calibri"/>
        <a:font script="Cyrl" typeface="Calibri"/>
        <a:font script="Jpan" typeface="HGPｺﾞｼｯｸE"/>
        <a:font script="Hang" typeface="HY얕은샘물M"/>
        <a:font script="Hans" typeface="微軟正黑體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117585</TotalTime>
  <Words>938</Words>
  <Application>Microsoft Macintosh PowerPoint</Application>
  <PresentationFormat>Widescreen</PresentationFormat>
  <Paragraphs>51</Paragraphs>
  <Slides>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微軟正黑體</vt:lpstr>
      <vt:lpstr>华文仿宋</vt:lpstr>
      <vt:lpstr>Arial</vt:lpstr>
      <vt:lpstr>Calibri</vt:lpstr>
      <vt:lpstr>Tw Cen MT</vt:lpstr>
      <vt:lpstr>https://www.freeppt7.com</vt:lpstr>
      <vt:lpstr>think-cell Slide</vt:lpstr>
      <vt:lpstr>PowerPoint Presentation</vt:lpstr>
      <vt:lpstr>台積電財報證實AI熱潮背後確有基本面支撐</vt:lpstr>
      <vt:lpstr>德黑蘭不應該把賭注壓在川普「臨陣變卦」（TACO）</vt:lpstr>
      <vt:lpstr>儘管中東戰火燃燒，石油供應依然充足</vt:lpstr>
      <vt:lpstr>地區衝突的蔓延可能衝擊全球石油命脈</vt:lpstr>
      <vt:lpstr>可能衝擊全球石油命脈的地區衝突蔓延</vt:lpstr>
    </vt:vector>
  </TitlesOfParts>
  <Company>www.freeppt7.com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templates</dc:title>
  <dc:creator>www.freeppt7.com</dc:creator>
  <cp:keywords>https:/www.freeppt7.com</cp:keywords>
  <dc:description>https://www.freeppt7.com</dc:description>
  <cp:lastModifiedBy>Jake Chien</cp:lastModifiedBy>
  <cp:revision>733</cp:revision>
  <cp:lastPrinted>2025-09-04T00:48:15Z</cp:lastPrinted>
  <dcterms:created xsi:type="dcterms:W3CDTF">2016-09-12T14:15:35Z</dcterms:created>
  <dcterms:modified xsi:type="dcterms:W3CDTF">2026-01-19T13:56:44Z</dcterms:modified>
</cp:coreProperties>
</file>