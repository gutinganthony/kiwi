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" y="0"/>
            <a:ext cx="12060936" cy="64008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005840"/>
            <a:ext cx="1005840" cy="100584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0584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00584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Misterwang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7830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6C755"/>
                </a:solidFill>
              </a:rPr>
              <a:t>王先生陪伴機器人  ·  LINE Companion Bot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423160"/>
            <a:ext cx="10332720" cy="36576"/>
          </a:xfrm>
          <a:prstGeom prst="rect">
            <a:avLst/>
          </a:prstGeom>
          <a:solidFill>
            <a:srgbClr val="44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4E8D8"/>
                </a:solidFill>
              </a:rPr>
              <a:t>用 AI 陪伴你的長輩、守護他們的安全，同時讓子女安心掌握每一份對話。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383280"/>
            <a:ext cx="3383280" cy="2148840"/>
          </a:xfrm>
          <a:prstGeom prst="rect">
            <a:avLst/>
          </a:prstGeom>
          <a:solidFill>
            <a:srgbClr val="1A2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383280"/>
            <a:ext cx="3383280" cy="82296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50215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50215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C755"/>
                </a:solidFill>
              </a:rPr>
              <a:t>LINE 即時陪伴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41648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E84"/>
                </a:solidFill>
              </a:rPr>
              <a:t>24/7 回應長輩訊息，
不讓他們感到孤單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3383280"/>
            <a:ext cx="3383280" cy="2148840"/>
          </a:xfrm>
          <a:prstGeom prst="rect">
            <a:avLst/>
          </a:prstGeom>
          <a:solidFill>
            <a:srgbClr val="1A2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63440" y="3383280"/>
            <a:ext cx="3383280" cy="8229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350215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79" y="350215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C518"/>
                </a:solidFill>
              </a:rPr>
              <a:t>詐騙偵測守護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4041648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E84"/>
                </a:solidFill>
              </a:rPr>
              <a:t>三層風險分類，
高危訊息由家人審核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3383280"/>
            <a:ext cx="3383280" cy="2148840"/>
          </a:xfrm>
          <a:prstGeom prst="rect">
            <a:avLst/>
          </a:prstGeom>
          <a:solidFill>
            <a:srgbClr val="1A2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0" y="3383280"/>
            <a:ext cx="3383280" cy="82296"/>
          </a:xfrm>
          <a:prstGeom prst="rect">
            <a:avLst/>
          </a:prstGeom>
          <a:solidFill>
            <a:srgbClr val="D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59" y="350215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👨‍👩‍👦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19" y="350215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A7A3C"/>
                </a:solidFill>
              </a:rPr>
              <a:t>家人協作介面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59" y="4041648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E84"/>
                </a:solidFill>
              </a:rPr>
              <a:t>子女收到 Flex Card，
可審核、編輯、或略過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5687568"/>
            <a:ext cx="10332720" cy="594360"/>
          </a:xfrm>
          <a:prstGeom prst="rect">
            <a:avLst/>
          </a:prstGeom>
          <a:solidFill>
            <a:srgbClr val="223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5687568"/>
            <a:ext cx="82296" cy="594360"/>
          </a:xfrm>
          <a:prstGeom prst="rect">
            <a:avLst/>
          </a:prstGeom>
          <a:solidFill>
            <a:srgbClr val="D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769864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E84"/>
                </a:solidFill>
              </a:rPr>
              <a:t>TypeScript  ·  Cloudflare Workers  ·  Claude Sonnet 4.6  ·  LINE Messaging API  ·  Bun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5C4A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" y="0"/>
            <a:ext cx="12060936" cy="64008"/>
          </a:xfrm>
          <a:prstGeom prst="rect">
            <a:avLst/>
          </a:prstGeom>
          <a:solidFill>
            <a:srgbClr val="E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為什麼需要 Misterwang？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41248"/>
            <a:ext cx="3657600" cy="45720"/>
          </a:xfrm>
          <a:prstGeom prst="rect">
            <a:avLst/>
          </a:prstGeom>
          <a:solidFill>
            <a:srgbClr val="E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875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A9E84"/>
                </a:solidFill>
              </a:rPr>
              <a:t>三個沒辦法忽視的問題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81328"/>
            <a:ext cx="5120640" cy="1389888"/>
          </a:xfrm>
          <a:prstGeom prst="rect">
            <a:avLst/>
          </a:prstGeom>
          <a:solidFill>
            <a:srgbClr val="1A2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82296" cy="1389888"/>
          </a:xfrm>
          <a:prstGeom prst="rect">
            <a:avLst/>
          </a:prstGeom>
          <a:solidFill>
            <a:srgbClr val="E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609344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609344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4A4A"/>
                </a:solidFill>
              </a:rPr>
              <a:t>長輩獨居、缺乏陪伴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048256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8D8"/>
                </a:solidFill>
              </a:rPr>
              <a:t>台灣老年人口快速增長，獨居長輩日益增多，
子女忙碌無法 24 小時陪伴在身旁。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17520"/>
            <a:ext cx="5120640" cy="1389888"/>
          </a:xfrm>
          <a:prstGeom prst="rect">
            <a:avLst/>
          </a:prstGeom>
          <a:solidFill>
            <a:srgbClr val="1A2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82296" cy="1389888"/>
          </a:xfrm>
          <a:prstGeom prst="rect">
            <a:avLst/>
          </a:prstGeom>
          <a:solidFill>
            <a:srgbClr val="E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3145536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145536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4A4A"/>
                </a:solidFill>
              </a:rPr>
              <a:t>電話/LINE 詐騙橫行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584448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8D8"/>
                </a:solidFill>
              </a:rPr>
              <a:t>長輩是詐騙集團的主要目標，
缺乏辨識能力且容易輕信陌生人的好意。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553712"/>
            <a:ext cx="5120640" cy="1389888"/>
          </a:xfrm>
          <a:prstGeom prst="rect">
            <a:avLst/>
          </a:prstGeom>
          <a:solidFill>
            <a:srgbClr val="1A2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553712"/>
            <a:ext cx="82296" cy="1389888"/>
          </a:xfrm>
          <a:prstGeom prst="rect">
            <a:avLst/>
          </a:prstGeom>
          <a:solidFill>
            <a:srgbClr val="E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468172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68172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4A4A"/>
                </a:solidFill>
              </a:rPr>
              <a:t>子女擔心卻無從掌握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12064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8D8"/>
                </a:solidFill>
              </a:rPr>
              <a:t>工作繁忙的子女無法實時知道
長輩說了什麼、碰到了什麼問題。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31089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6C755"/>
                </a:solidFill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13258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C755"/>
                </a:solidFill>
              </a:rPr>
              <a:t>Misterwang 的答案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1481328"/>
            <a:ext cx="5120640" cy="1389888"/>
          </a:xfrm>
          <a:prstGeom prst="rect">
            <a:avLst/>
          </a:prstGeom>
          <a:solidFill>
            <a:srgbClr val="1A2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75120" y="1481328"/>
            <a:ext cx="82296" cy="1389888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1609344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C755"/>
                </a:solidFill>
              </a:rPr>
              <a:t>🤖 AI 全天候陪伴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6288" y="2048256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8D8"/>
                </a:solidFill>
              </a:rPr>
              <a:t>用 Claude Sonnet 4.6 扮演「王先生」角色，
模擬真人口吻，讓長輩覺得有人在。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3017520"/>
            <a:ext cx="5120640" cy="1389888"/>
          </a:xfrm>
          <a:prstGeom prst="rect">
            <a:avLst/>
          </a:prstGeom>
          <a:solidFill>
            <a:srgbClr val="1A2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75120" y="3017520"/>
            <a:ext cx="82296" cy="1389888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76288" y="3145536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C755"/>
                </a:solidFill>
              </a:rPr>
              <a:t>🔍 三層風險自動分類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3584448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8D8"/>
                </a:solidFill>
              </a:rPr>
              <a:t>一般聊天自動回，可疑訊息通報家人，
財務/詐騙相關必須家人審核才發送。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4553712"/>
            <a:ext cx="5120640" cy="1389888"/>
          </a:xfrm>
          <a:prstGeom prst="rect">
            <a:avLst/>
          </a:prstGeom>
          <a:solidFill>
            <a:srgbClr val="1A2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675120" y="4553712"/>
            <a:ext cx="82296" cy="1389888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76288" y="468172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C755"/>
                </a:solidFill>
              </a:rPr>
              <a:t>📱 Flex Card 審核介面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76288" y="512064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8D8"/>
                </a:solidFill>
              </a:rPr>
              <a:t>子女在 LINE 收到審核卡片，
三秒鐘決定：直接送出 / 編輯 / 略過。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5C4A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" y="0"/>
            <a:ext cx="12060936" cy="6400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核心功能：三層風險分類系統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41248"/>
            <a:ext cx="4572000" cy="457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875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A9E84"/>
                </a:solidFill>
              </a:rPr>
              <a:t>每一則長輩的訊息，系統自動判斷風險等級，採取對應的回應策略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81328"/>
            <a:ext cx="3657600" cy="5074920"/>
          </a:xfrm>
          <a:prstGeom prst="rect">
            <a:avLst/>
          </a:prstGeom>
          <a:solidFill>
            <a:srgbClr val="1A2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81328"/>
            <a:ext cx="3657600" cy="109728"/>
          </a:xfrm>
          <a:prstGeom prst="rect">
            <a:avLst/>
          </a:prstGeom>
          <a:solidFill>
            <a:srgbClr val="26C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664208"/>
            <a:ext cx="1371600" cy="347472"/>
          </a:xfrm>
          <a:prstGeom prst="rect">
            <a:avLst/>
          </a:prstGeom>
          <a:solidFill>
            <a:srgbClr val="26C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66420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A14"/>
                </a:solidFill>
              </a:rPr>
              <a:t>LOW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084831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一般日常聊天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" y="2560320"/>
            <a:ext cx="3337560" cy="27432"/>
          </a:xfrm>
          <a:prstGeom prst="rect">
            <a:avLst/>
          </a:prstGeom>
          <a:solidFill>
            <a:srgbClr val="44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65176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9E84"/>
                </a:solidFill>
              </a:rPr>
              <a:t>觸發條件：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2944368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8D8"/>
                </a:solidFill>
              </a:rPr>
              <a:t>問候、天氣、日常話題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3520439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9E84"/>
                </a:solidFill>
              </a:rPr>
              <a:t>AI 行為：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3813048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8D8"/>
                </a:solidFill>
              </a:rPr>
              <a:t>立即自動回覆長輩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438912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9E84"/>
                </a:solidFill>
              </a:rPr>
              <a:t>家人收到：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4681728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8D8"/>
                </a:solidFill>
              </a:rPr>
              <a:t>對話摘要 Log（可查閱）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60720"/>
            <a:ext cx="3383280" cy="502920"/>
          </a:xfrm>
          <a:prstGeom prst="rect">
            <a:avLst/>
          </a:prstGeom>
          <a:solidFill>
            <a:srgbClr val="223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5760720"/>
            <a:ext cx="64008" cy="502920"/>
          </a:xfrm>
          <a:prstGeom prst="rect">
            <a:avLst/>
          </a:prstGeom>
          <a:solidFill>
            <a:srgbClr val="26C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833872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C281"/>
                </a:solidFill>
              </a:rPr>
              <a:t>⚡  最快速，無需等待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1481328"/>
            <a:ext cx="3657600" cy="5074920"/>
          </a:xfrm>
          <a:prstGeom prst="rect">
            <a:avLst/>
          </a:prstGeom>
          <a:solidFill>
            <a:srgbClr val="1A2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1481328"/>
            <a:ext cx="3657600" cy="1097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4840" y="1664208"/>
            <a:ext cx="1371600" cy="34747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166420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A14"/>
                </a:solidFill>
              </a:rPr>
              <a:t>MEDIUM 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2272" y="2084831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情緒、健康相關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62272" y="2560320"/>
            <a:ext cx="3337560" cy="27432"/>
          </a:xfrm>
          <a:prstGeom prst="rect">
            <a:avLst/>
          </a:prstGeom>
          <a:solidFill>
            <a:srgbClr val="44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62272" y="265176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9E84"/>
                </a:solidFill>
              </a:rPr>
              <a:t>觸發條件：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2272" y="2944368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8D8"/>
                </a:solidFill>
              </a:rPr>
              <a:t>身體不舒服、心情低落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62272" y="3520439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9E84"/>
                </a:solidFill>
              </a:rPr>
              <a:t>AI 行為：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2272" y="3813048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8D8"/>
                </a:solidFill>
              </a:rPr>
              <a:t>起草草稿，送 Flex Card 給家人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62272" y="438912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9E84"/>
                </a:solidFill>
              </a:rPr>
              <a:t>家人可以：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62272" y="4681728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8D8"/>
                </a:solidFill>
              </a:rPr>
              <a:t>✅ 直送 / ✏️ 編輯 / 🚫 略過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34840" y="5760720"/>
            <a:ext cx="3383280" cy="502920"/>
          </a:xfrm>
          <a:prstGeom prst="rect">
            <a:avLst/>
          </a:prstGeom>
          <a:solidFill>
            <a:srgbClr val="223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434840" y="5760720"/>
            <a:ext cx="64008" cy="5029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0" y="5833872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518"/>
                </a:solidFill>
              </a:rPr>
              <a:t>⏱  30 分鐘無回應 → 自動送出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92440" y="1481328"/>
            <a:ext cx="3657600" cy="5074920"/>
          </a:xfrm>
          <a:prstGeom prst="rect">
            <a:avLst/>
          </a:prstGeom>
          <a:solidFill>
            <a:srgbClr val="1A2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92440" y="1481328"/>
            <a:ext cx="3657600" cy="109728"/>
          </a:xfrm>
          <a:prstGeom prst="rect">
            <a:avLst/>
          </a:prstGeom>
          <a:solidFill>
            <a:srgbClr val="E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29600" y="1664208"/>
            <a:ext cx="1371600" cy="347472"/>
          </a:xfrm>
          <a:prstGeom prst="rect">
            <a:avLst/>
          </a:prstGeom>
          <a:solidFill>
            <a:srgbClr val="E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0" y="166420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A14"/>
                </a:solidFill>
              </a:rPr>
              <a:t>HIGH RISK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57031" y="2084831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財務、疑似詐騙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57031" y="2560320"/>
            <a:ext cx="3337560" cy="27432"/>
          </a:xfrm>
          <a:prstGeom prst="rect">
            <a:avLst/>
          </a:prstGeom>
          <a:solidFill>
            <a:srgbClr val="44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57031" y="265176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9E84"/>
                </a:solidFill>
              </a:rPr>
              <a:t>觸發條件：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57031" y="2944368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8D8"/>
                </a:solidFill>
              </a:rPr>
              <a:t>轉帳、匯款、陌生人要求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57031" y="3520439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9E84"/>
                </a:solidFill>
              </a:rPr>
              <a:t>AI 行為：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57031" y="3813048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8D8"/>
                </a:solidFill>
              </a:rPr>
              <a:t>停止自動回，通知家人審核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57031" y="438912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9E84"/>
                </a:solidFill>
              </a:rPr>
              <a:t>家人必須：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57031" y="4681728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8D8"/>
                </a:solidFill>
              </a:rPr>
              <a:t>明確核准才會送出訊息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0" y="5760720"/>
            <a:ext cx="3383280" cy="502920"/>
          </a:xfrm>
          <a:prstGeom prst="rect">
            <a:avLst/>
          </a:prstGeom>
          <a:solidFill>
            <a:srgbClr val="223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229600" y="5760720"/>
            <a:ext cx="64008" cy="502920"/>
          </a:xfrm>
          <a:prstGeom prst="rect">
            <a:avLst/>
          </a:prstGeom>
          <a:solidFill>
            <a:srgbClr val="E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66760" y="5833872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4A4A"/>
                </a:solidFill>
              </a:rPr>
              <a:t>🔒  永不自動發送，家人全權決定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5C4A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" y="0"/>
            <a:ext cx="12060936" cy="6400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技術架構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41248"/>
            <a:ext cx="2743200" cy="4572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875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A9E84"/>
                </a:solidFill>
              </a:rPr>
              <a:t>12 個模組、TypeScript 全棧、零伺服器成本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2A5F5"/>
                </a:solidFill>
              </a:rPr>
              <a:t>核心技術棧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5303520" cy="1005840"/>
          </a:xfrm>
          <a:prstGeom prst="rect">
            <a:avLst/>
          </a:prstGeom>
          <a:solidFill>
            <a:srgbClr val="1A2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82296" cy="1005840"/>
          </a:xfrm>
          <a:prstGeom prst="rect">
            <a:avLst/>
          </a:prstGeom>
          <a:solidFill>
            <a:srgbClr val="D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011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A7A3C"/>
                </a:solidFill>
              </a:rPr>
              <a:t>AI 引擎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359152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4E8D8"/>
                </a:solidFill>
              </a:rPr>
              <a:t>Claude Sonnet 4.6 with Prompt Caching
→ 降低重複系統提示的 API 成本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35808"/>
            <a:ext cx="5303520" cy="1005840"/>
          </a:xfrm>
          <a:prstGeom prst="rect">
            <a:avLst/>
          </a:prstGeom>
          <a:solidFill>
            <a:srgbClr val="1A2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035808"/>
            <a:ext cx="82296" cy="100584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31272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C755"/>
                </a:solidFill>
              </a:rPr>
              <a:t>訊息平台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3474720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4E8D8"/>
                </a:solidFill>
              </a:rPr>
              <a:t>LINE Messaging API + HMAC-SHA256 驗證
→ 確保 webhook 安全性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51376"/>
            <a:ext cx="5303520" cy="1005840"/>
          </a:xfrm>
          <a:prstGeom prst="rect">
            <a:avLst/>
          </a:prstGeom>
          <a:solidFill>
            <a:srgbClr val="1A2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151376"/>
            <a:ext cx="82296" cy="100584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424281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2A5F5"/>
                </a:solidFill>
              </a:rPr>
              <a:t>執行環境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4590288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4E8D8"/>
                </a:solidFill>
              </a:rPr>
              <a:t>Cloudflare Workers (Hono 框架) + Bun
→ 全球邊緣部署，無需管理伺服器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266944"/>
            <a:ext cx="5303520" cy="1005840"/>
          </a:xfrm>
          <a:prstGeom prst="rect">
            <a:avLst/>
          </a:prstGeom>
          <a:solidFill>
            <a:srgbClr val="1A2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266944"/>
            <a:ext cx="82296" cy="10058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5358383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記憶體系統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5705856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4E8D8"/>
                </a:solidFill>
              </a:rPr>
              <a:t>Cloudflare KV（30 天 TTL）
→ 保留最近 20 則對話記憶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2A5F5"/>
                </a:solidFill>
              </a:rPr>
              <a:t>12 個功能模組（src/ 目錄）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920240"/>
            <a:ext cx="2697480" cy="566928"/>
          </a:xfrm>
          <a:prstGeom prst="rect">
            <a:avLst/>
          </a:prstGeom>
          <a:solidFill>
            <a:srgbClr val="1A2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1920240"/>
            <a:ext cx="64008" cy="566928"/>
          </a:xfrm>
          <a:prstGeom prst="rect">
            <a:avLst/>
          </a:prstGeom>
          <a:solidFill>
            <a:srgbClr val="D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6248" y="197510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A7A3C"/>
                </a:solidFill>
              </a:rPr>
              <a:t>claude/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6248" y="2231136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E84"/>
                </a:solidFill>
              </a:rPr>
              <a:t>Claude API 呼叫與 prompt caching 管理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81160" y="1920240"/>
            <a:ext cx="2697480" cy="566928"/>
          </a:xfrm>
          <a:prstGeom prst="rect">
            <a:avLst/>
          </a:prstGeom>
          <a:solidFill>
            <a:srgbClr val="1A2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81160" y="1920240"/>
            <a:ext cx="64008" cy="56692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36608" y="197510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2A5F5"/>
                </a:solidFill>
              </a:rPr>
              <a:t>routing/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36608" y="2231136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E84"/>
                </a:solidFill>
              </a:rPr>
              <a:t>訊息風險分類路由（Low/Medium/High）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2578608"/>
            <a:ext cx="2697480" cy="566928"/>
          </a:xfrm>
          <a:prstGeom prst="rect">
            <a:avLst/>
          </a:prstGeom>
          <a:solidFill>
            <a:srgbClr val="1A2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2578608"/>
            <a:ext cx="64008" cy="566928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56248" y="263347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C755"/>
                </a:solidFill>
              </a:rPr>
              <a:t>persona/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56248" y="2889504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E84"/>
                </a:solidFill>
              </a:rPr>
              <a:t>王先生角色人設與系統提示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81160" y="2578608"/>
            <a:ext cx="2697480" cy="566928"/>
          </a:xfrm>
          <a:prstGeom prst="rect">
            <a:avLst/>
          </a:prstGeom>
          <a:solidFill>
            <a:srgbClr val="1A2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281160" y="2578608"/>
            <a:ext cx="64008" cy="566928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36608" y="263347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C755"/>
                </a:solidFill>
              </a:rPr>
              <a:t>humanize/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36608" y="2889504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E84"/>
                </a:solidFill>
              </a:rPr>
              <a:t>擬人化：延遲、錯字、表情符號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236976"/>
            <a:ext cx="2697480" cy="566928"/>
          </a:xfrm>
          <a:prstGeom prst="rect">
            <a:avLst/>
          </a:prstGeom>
          <a:solidFill>
            <a:srgbClr val="1A2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0" y="3236976"/>
            <a:ext cx="64008" cy="5669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56248" y="329184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</a:rPr>
              <a:t>guardrails/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56248" y="3547872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E84"/>
                </a:solidFill>
              </a:rPr>
              <a:t>個資自動遮蔽（身分證、卡號）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81160" y="3236976"/>
            <a:ext cx="2697480" cy="566928"/>
          </a:xfrm>
          <a:prstGeom prst="rect">
            <a:avLst/>
          </a:prstGeom>
          <a:solidFill>
            <a:srgbClr val="1A2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281160" y="3236976"/>
            <a:ext cx="64008" cy="5669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36608" y="329184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</a:rPr>
              <a:t>pending/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36608" y="3547872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E84"/>
                </a:solidFill>
              </a:rPr>
              <a:t>待審核訊息佇列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3895344"/>
            <a:ext cx="2697480" cy="566928"/>
          </a:xfrm>
          <a:prstGeom prst="rect">
            <a:avLst/>
          </a:prstGeom>
          <a:solidFill>
            <a:srgbClr val="1A2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00800" y="3895344"/>
            <a:ext cx="64008" cy="566928"/>
          </a:xfrm>
          <a:prstGeom prst="rect">
            <a:avLst/>
          </a:prstGeom>
          <a:solidFill>
            <a:srgbClr val="D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56248" y="3950207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A7A3C"/>
                </a:solidFill>
              </a:rPr>
              <a:t>operator/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56248" y="4206240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E84"/>
                </a:solidFill>
              </a:rPr>
              <a:t>家人審核 Flex Card 介面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281160" y="3895344"/>
            <a:ext cx="2697480" cy="566928"/>
          </a:xfrm>
          <a:prstGeom prst="rect">
            <a:avLst/>
          </a:prstGeom>
          <a:solidFill>
            <a:srgbClr val="1A2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281160" y="3895344"/>
            <a:ext cx="64008" cy="56692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36608" y="3950207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2A5F5"/>
                </a:solidFill>
              </a:rPr>
              <a:t>memory/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36608" y="4206240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E84"/>
                </a:solidFill>
              </a:rPr>
              <a:t>KV 對話記憶讀寫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4553712"/>
            <a:ext cx="2697480" cy="566928"/>
          </a:xfrm>
          <a:prstGeom prst="rect">
            <a:avLst/>
          </a:prstGeom>
          <a:solidFill>
            <a:srgbClr val="1A2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400800" y="4553712"/>
            <a:ext cx="64008" cy="566928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56248" y="460857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C755"/>
                </a:solidFill>
              </a:rPr>
              <a:t>line/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56248" y="4864608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E84"/>
                </a:solidFill>
              </a:rPr>
              <a:t>LINE webhook 處理與推播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281160" y="4553712"/>
            <a:ext cx="2697480" cy="566928"/>
          </a:xfrm>
          <a:prstGeom prst="rect">
            <a:avLst/>
          </a:prstGeom>
          <a:solidFill>
            <a:srgbClr val="1A2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281160" y="4553712"/>
            <a:ext cx="64008" cy="56692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436608" y="460857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2A5F5"/>
                </a:solidFill>
              </a:rPr>
              <a:t>dashboard/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436608" y="4864608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E84"/>
                </a:solidFill>
              </a:rPr>
              <a:t>家人監控後台 Dashboard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0" y="5212079"/>
            <a:ext cx="2697480" cy="566928"/>
          </a:xfrm>
          <a:prstGeom prst="rect">
            <a:avLst/>
          </a:prstGeom>
          <a:solidFill>
            <a:srgbClr val="1A2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5212079"/>
            <a:ext cx="64008" cy="566928"/>
          </a:xfrm>
          <a:prstGeom prst="rect">
            <a:avLst/>
          </a:prstGeom>
          <a:solidFill>
            <a:srgbClr val="7A9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56248" y="5266943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A9E84"/>
                </a:solidFill>
              </a:rPr>
              <a:t>scheduler/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56248" y="5522975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E84"/>
                </a:solidFill>
              </a:rPr>
              <a:t>定時任務排程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281160" y="5212079"/>
            <a:ext cx="2697480" cy="566928"/>
          </a:xfrm>
          <a:prstGeom prst="rect">
            <a:avLst/>
          </a:prstGeom>
          <a:solidFill>
            <a:srgbClr val="1A2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281160" y="5212079"/>
            <a:ext cx="64008" cy="566928"/>
          </a:xfrm>
          <a:prstGeom prst="rect">
            <a:avLst/>
          </a:prstGeom>
          <a:solidFill>
            <a:srgbClr val="7A9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436608" y="5266943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A9E84"/>
                </a:solidFill>
              </a:rPr>
              <a:t>news/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436608" y="5522975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E84"/>
                </a:solidFill>
              </a:rPr>
              <a:t>資訊推播功能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5C4A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D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" y="0"/>
            <a:ext cx="12060936" cy="64008"/>
          </a:xfrm>
          <a:prstGeom prst="rect">
            <a:avLst/>
          </a:prstGeom>
          <a:solidFill>
            <a:srgbClr val="D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Claude 幫我完成了什麼？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41248"/>
            <a:ext cx="4114800" cy="45720"/>
          </a:xfrm>
          <a:prstGeom prst="rect">
            <a:avLst/>
          </a:prstGeom>
          <a:solidFill>
            <a:srgbClr val="D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875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A9E84"/>
                </a:solidFill>
              </a:rPr>
              <a:t>從零到 Phase 1 完成，Claude Code 是全程的 co-builder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5212080" cy="1325880"/>
          </a:xfrm>
          <a:prstGeom prst="rect">
            <a:avLst/>
          </a:prstGeom>
          <a:solidFill>
            <a:srgbClr val="1A2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5212080" cy="73152"/>
          </a:xfrm>
          <a:prstGeom prst="rect">
            <a:avLst/>
          </a:prstGeom>
          <a:solidFill>
            <a:srgbClr val="D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609344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A7A3C"/>
                </a:solidFill>
              </a:rPr>
              <a:t>⚙️  系統架構設計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01168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4E8D8"/>
                </a:solidFill>
              </a:rPr>
              <a:t>三層風險分類邏輯、12 模組結構規劃、
Cloudflare Workers 部署架構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463040"/>
            <a:ext cx="5212080" cy="1325880"/>
          </a:xfrm>
          <a:prstGeom prst="rect">
            <a:avLst/>
          </a:prstGeom>
          <a:solidFill>
            <a:srgbClr val="1A2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463040"/>
            <a:ext cx="5212080" cy="73152"/>
          </a:xfrm>
          <a:prstGeom prst="rect">
            <a:avLst/>
          </a:prstGeom>
          <a:solidFill>
            <a:srgbClr val="D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9631" y="1609344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A7A3C"/>
                </a:solidFill>
              </a:rPr>
              <a:t>💻  全部程式碼撰寫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1" y="201168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4E8D8"/>
                </a:solidFill>
              </a:rPr>
              <a:t>TypeScript 全棧，index.ts 主邏輯
+ 所有子模組由 Claude 逐步實作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26080"/>
            <a:ext cx="5212080" cy="1325880"/>
          </a:xfrm>
          <a:prstGeom prst="rect">
            <a:avLst/>
          </a:prstGeom>
          <a:solidFill>
            <a:srgbClr val="1A2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926080"/>
            <a:ext cx="5212080" cy="73152"/>
          </a:xfrm>
          <a:prstGeom prst="rect">
            <a:avLst/>
          </a:prstGeom>
          <a:solidFill>
            <a:srgbClr val="D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3072384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A7A3C"/>
                </a:solidFill>
              </a:rPr>
              <a:t>📋  法律合規文件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347472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4E8D8"/>
                </a:solidFill>
              </a:rPr>
              <a:t>同意書範本、隱私政策、PIPA 合規說明
（docs/ 三份正式文件）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2926080"/>
            <a:ext cx="5212080" cy="1325880"/>
          </a:xfrm>
          <a:prstGeom prst="rect">
            <a:avLst/>
          </a:prstGeom>
          <a:solidFill>
            <a:srgbClr val="1A2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35040" y="2926080"/>
            <a:ext cx="5212080" cy="73152"/>
          </a:xfrm>
          <a:prstGeom prst="rect">
            <a:avLst/>
          </a:prstGeom>
          <a:solidFill>
            <a:srgbClr val="D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99631" y="3072384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A7A3C"/>
                </a:solidFill>
              </a:rPr>
              <a:t>🧑‍💻  Dashboard 設計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9631" y="347472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4E8D8"/>
                </a:solidFill>
              </a:rPr>
              <a:t>家人監控介面、Flex Card 審核 UI、
後台 Log 查閱功能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389120"/>
            <a:ext cx="5212080" cy="1325880"/>
          </a:xfrm>
          <a:prstGeom prst="rect">
            <a:avLst/>
          </a:prstGeom>
          <a:solidFill>
            <a:srgbClr val="1A2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389120"/>
            <a:ext cx="5212080" cy="73152"/>
          </a:xfrm>
          <a:prstGeom prst="rect">
            <a:avLst/>
          </a:prstGeom>
          <a:solidFill>
            <a:srgbClr val="D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4535424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A7A3C"/>
                </a:solidFill>
              </a:rPr>
              <a:t>🌐  Cloudflare 部署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493776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4E8D8"/>
                </a:solidFill>
              </a:rPr>
              <a:t>wrangler.toml 設定、KV namespace
綁定、webhook 驗證流程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4389120"/>
            <a:ext cx="5212080" cy="1325880"/>
          </a:xfrm>
          <a:prstGeom prst="rect">
            <a:avLst/>
          </a:prstGeom>
          <a:solidFill>
            <a:srgbClr val="1A2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4389120"/>
            <a:ext cx="5212080" cy="73152"/>
          </a:xfrm>
          <a:prstGeom prst="rect">
            <a:avLst/>
          </a:prstGeom>
          <a:solidFill>
            <a:srgbClr val="D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9631" y="4535424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A7A3C"/>
                </a:solidFill>
              </a:rPr>
              <a:t>🎭  王先生人設建立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9631" y="493776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4E8D8"/>
                </a:solidFill>
              </a:rPr>
              <a:t>角色個性設定、擬人化口吻、
延遲與錯字讓 AI 更像真人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897880"/>
            <a:ext cx="11247120" cy="685800"/>
          </a:xfrm>
          <a:prstGeom prst="rect">
            <a:avLst/>
          </a:prstGeom>
          <a:solidFill>
            <a:srgbClr val="223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5897880"/>
            <a:ext cx="11247120" cy="82296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6016752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C755"/>
                </a:solidFill>
              </a:rPr>
              <a:t>📌  目前狀態：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6016752"/>
            <a:ext cx="8412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8D8"/>
                </a:solidFill>
              </a:rPr>
              <a:t>Phase 1 完成  ·  單一用戶、純文字、30天記憶  |  Phase 2：長期記憶、主動問候、多人設管理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5C4A"/>
                </a:solidFill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