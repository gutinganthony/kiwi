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年營收（萬元台幣）</c:v>
                </c:pt>
              </c:strCache>
            </c:strRef>
          </c:tx>
          <c:spPr>
            <a:solidFill>
              <a:srgbClr val="B08D57"/>
            </a:solidFill>
            <a:effectLst/>
          </c:spPr>
          <c:invertIfNegative val="0"/>
          <c:dLbls>
            <c:numFmt formatCode="#,##0&quot;萬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保守情境
10 客戶</c:v>
                  </c:pt>
                  <c:pt idx="1">
                    <c:v>中性情境
12 客戶</c:v>
                  </c:pt>
                  <c:pt idx="2">
                    <c:v>積極情境
15 客戶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250</c:v>
                </c:pt>
                <c:pt idx="1">
                  <c:v>540</c:v>
                </c:pt>
                <c:pt idx="2">
                  <c:v>900</c:v>
                </c:pt>
              </c:numCache>
            </c:numRef>
          </c:val>
        </c:ser>
        <c:dLbls>
          <c:numFmt formatCode="#,##0&quot;萬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C1C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1C1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</c:scaling>
        <c:delete val="0"/>
        <c:axPos val="l"/>
        <c:majorGridlines>
          <c:spPr>
            <a:ln w="1270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這份是給我們兩人討論用的，不是對外募資簡報。目標：一個小時內把「做不做、怎麼分工、怎麼驗證」談出結論。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這一頁要先對齊：我們賣的是「執行與品質責任」，不是「介紹工廠」。介紹費模式已經被 1688 殺死了。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重點不是抄他們，是他們替我們把天花板和地板都測出來了：品類能活（地板），但別做 VC 夢（天花板）。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 天試合作的隱藏考題：夥伴在只有週會督促的情況下，能不能自驅推進。這比生意本身更需要被驗證。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206240" cy="420624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2560320" cy="256032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合作提案 · 內部討論用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精品級供應鏈</a:t>
            </a:r>
            <a:endParaRPr lang="en-US" sz="52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接入服務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把十年精品採購的供應商網絡與品質標準，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變成新銳品牌買得到的服務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25400">
            <a:solidFill>
              <a:srgbClr val="B08D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03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Jake（策略 · 驗證 · 行銷）　×　夥伴（供應鏈 · 品質 · 執行）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715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2026.07.22　v1.1（含市場占位查證）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 們 要 做 什 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「用精品的供應鏈標準，</a:t>
            </a:r>
            <a:endParaRPr lang="en-US" sz="38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做你的品牌。」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服務對象：想做出精品級品質、但吃不到精品供應鏈的新銳設計師品牌、高端訂製與品牌禮贈需求方。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2F0ED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785616"/>
            <a:ext cx="457200" cy="45720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3730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選 · 配對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40233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從品類需求反推供應商：誰做得出這個品質、願不願意接小單、真實成本多少。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2F0ED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700016"/>
            <a:ext cx="457200" cy="45720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700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4645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打樣 · 開發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49377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帶著品牌走完打樣到定版，翻譯「設計語言」成「工廠語言」。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44068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2F0ED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614416"/>
            <a:ext cx="457200" cy="45720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614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55595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量產 · 駐廠 QC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58521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小批量生產與親自驗貨，對品質負責——不是介紹完就走的中介。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 什 麼 是 我 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兩邊的資產剛好互補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夥伴｜供給側的鑰匙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供應商地圖：長三角/亞洲精品級廠、真實成本與起訂量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品質之眼：一眼分辨精品級與量販級的 QC 能力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買手紀律：SKU 規劃、訂貨與售罄率思維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十年 Burberry 上海採購 · 現有完整時間投入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F2F0ED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Jake｜需求側的方法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14884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驗證方法論：訪談設計、真 offer 測試、停損判準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行銷操盤：內容獲客與品牌敘事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研究基礎設施：市場、法規、競品的快速掃描能力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資本與財務紀律：P&amp;L、單位經濟、風險控管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B08D5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8463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交點：他握著「供給側瓶頸的鑰匙」，我握著「需求側驗證與放大的方法」。</a:t>
            </a:r>
            <a:endParaRPr lang="en-US" sz="15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最好的生意會出現在這個交點上——而不是各自單獨能做的事情裡。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誠實提醒：這個組合的最大隱藏風險不是市場，是「需要督促的執行者 × 沒空督促的策略者」——解法見第 10 頁。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 會 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為什麼是現在：四個同時打開的窗口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2F0E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73352"/>
            <a:ext cx="384048" cy="384048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6733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關稅重整期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美國成衣關稅 2025 年 14.7% → 35.1%，65% 買家已在分散採購，但普遍受品質問題所苦、完整重整要 12–18 個月以上。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2990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品質與 QC 能力，正是重整期最稀缺的東西。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2F0ED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1673352"/>
            <a:ext cx="384048" cy="384048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0" y="16733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精品透明化危機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6248" y="21671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 義大利精品轉包血汗工廠司法調查（Loro Piana／Valentino／Dior／Armani 供應鏈）。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56248" y="2990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「經審核、可溯源」變成能賣錢的敘事。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2F0ED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3959352"/>
            <a:ext cx="384048" cy="384048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9593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利基資訊仍稀缺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44531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通用代工中介已被 1688／阿里透明化殺死，但「精品層代工中介」查無具名業者。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" y="5276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十年內部知識在這一層仍有真實稀缺性。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7033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2F0ED"/>
          </a:solidFill>
          <a:ln/>
        </p:spPr>
      </p:sp>
      <p:sp>
        <p:nvSpPr>
          <p:cNvPr id="23" name="Shape 21"/>
          <p:cNvSpPr/>
          <p:nvPr/>
        </p:nvSpPr>
        <p:spPr>
          <a:xfrm>
            <a:off x="6537960" y="3959352"/>
            <a:ext cx="384048" cy="384048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39593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小單技術成熟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56248" y="44531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百件級快反產能已成立（如犀牛智造）；義大利平台 MakersValley 甚至做到 1 件起訂。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56248" y="5276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「高工藝 × 極小單」的營運模式存在先例。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資料：2026-07-22 網路查證（搜尋摘要層級，未經全文核實）；關稅數字為公開報導引用。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 例 · 市 場 實 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這個品類已經有人做——他們證明了什麼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88920" y="1417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4920" y="1417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規模／特徵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03720" y="1417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464040" y="1417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對我們的意義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28216"/>
            <a:ext cx="11247120" cy="841248"/>
          </a:xfrm>
          <a:prstGeom prst="rect">
            <a:avLst/>
          </a:prstGeom>
          <a:solidFill>
            <a:srgbClr val="F2F0E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6E6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Pietra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788920" y="1783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 · sourcing 市集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74920" y="17830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募資 $36M ｜ 28 人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03720" y="1783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多年後模式未變，仍在營運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464040" y="1783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品類能活，但沒有爆發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791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6E6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Italic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788920" y="267919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 · 同廠平替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74920" y="267919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募資 $86.9M ｜ 71 人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03720" y="267919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已從強制會員牆鬆綁為一般電商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464040" y="267919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重資本也難把它做大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11247120" cy="841248"/>
          </a:xfrm>
          <a:prstGeom prst="rect">
            <a:avLst/>
          </a:prstGeom>
          <a:solidFill>
            <a:srgbClr val="F2F0E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7530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6E6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MakersValley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88920" y="357530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義大利 · 媒合平台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74920" y="3575304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件起訂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03720" y="357530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高工藝 × 極小單的模式先例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464040" y="357530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小單門檻可以被設計掉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447141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6E6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Sourcify / Maker's Row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88920" y="4471416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 · 找廠平台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74920" y="447141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通用品類為主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903720" y="4471416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非精品層，資訊透明化受害者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464040" y="4471416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通用中介的價值已被侵蝕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5312664"/>
            <a:ext cx="11247120" cy="841248"/>
          </a:xfrm>
          <a:prstGeom prst="rect">
            <a:avLst/>
          </a:prstGeom>
          <a:solidFill>
            <a:srgbClr val="F2F0ED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3675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6E6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QIMA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2788920" y="536752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香港起家 · 驗廠檢驗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74920" y="536752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規模化 B2B 服務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903720" y="536752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把「品質查核」做成產品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464040" y="536752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本身就是可收費的產品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查證日 2026-07-22。募資與人數為公開資料庫數字；未查到任何專門經營「精品層代工中介」的具名中國／香港業者。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 例 帶 來 的 三 個 結 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地板、天花板、以及那道縫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2A2A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地板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存在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頭部業者活了多年沒死。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這門生意能養活人。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2A2A2E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天花板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2240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有限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709160" y="32918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燒掉 $36M / $86.9M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仍是小眾生意。別做 VC 夢。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2A2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那道縫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0" y="2240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空白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503920" y="32918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精品層代工中介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查無具名業者。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結論：這是一門「現金流 ＋ 市場情報」的生意，不是規模生意。</a:t>
            </a:r>
            <a:endParaRPr lang="en-US" sz="15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它的最大價值，是用最低成本探出「哪個品類的需求最兇」，再決定要不要升級成自有品牌或二手精品。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 業 模 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三層收費：專案 · 佣金 · 月費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D8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打樣／開發專案費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9933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一次性。從需求釐清到定版打樣，含供應商配對。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16276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US$150 – 2,000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309360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NT$5,000 – 65,000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0" y="16916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現金流最快、也是最好的信任測試門檻。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D8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364992"/>
            <a:ext cx="502920" cy="50292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量產佣金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352958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按實際下單金額抽成，含駐廠 QC 與交期管理。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31638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3% – 10%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309360" y="3621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隨訂單金額遞減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0" y="322783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客戶成長我們就成長，但要靠訂單量堆。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43984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2F0ED"/>
          </a:solidFill>
          <a:ln w="12700">
            <a:solidFill>
              <a:srgbClr val="DDD8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901184"/>
            <a:ext cx="502920" cy="50292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901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00200" y="46451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月度 Retainer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00200" y="506577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長期供應鏈顧問：品類規劃、年度開發、供應商維護。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47000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US$300 – 5,000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309360" y="5157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NT$1萬 – 16萬 / 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869680" y="4764024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唯一能讓收入穩定、可預測的一層。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行情來源多為 sourcing agent 自營網站宣稱值，非審計數據——請當「量級參考」而非定價依據。我們的高執行密度定位應收上緣。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 位 經 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溫飽線：我們需要幾個活躍客戶？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41732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F2F0ED"/>
          </a:solidFill>
          <a:ln/>
        </p:spPr>
      </p:sp>
      <p:sp>
        <p:nvSpPr>
          <p:cNvPr id="6" name="Text 3"/>
          <p:cNvSpPr/>
          <p:nvPr/>
        </p:nvSpPr>
        <p:spPr>
          <a:xfrm>
            <a:off x="717804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情境模型的假設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78040" y="201168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每客戶年貢獻 NT$25–60 萬（打樣 + 佣金 + 月費混合）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無庫存、無買量；主要成本＝兩人時間與差旅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獲客靠內容與轉介紹，不靠廣告預算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0" y="342900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1C1C1E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關鍵數字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78040" y="3931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– 15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178040" y="459028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個活躍客戶＝兩人溫飽線。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盈虧平衡極低，這是它作為「起手式」最大的優點。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情境模型，非預測。收入結構會隨第一批客戶的真實成交金額大幅修正——第 12 頁的 pilot 就是要把這張表換成真數字。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 構 · 分 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誰負責什麼：一個引擎，一個舵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工作領域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915400" y="1371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夥伴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47120" cy="603504"/>
          </a:xfrm>
          <a:prstGeom prst="rect">
            <a:avLst/>
          </a:prstGeom>
          <a:solidFill>
            <a:srgbClr val="F2F0E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 · 選題 · 驗證設計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173736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主責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15400" y="1737360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參與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395728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供給端：找廠 · 選品 · 談判 · QC · 交付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239572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915400" y="2395728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008376"/>
            <a:ext cx="11247120" cy="603504"/>
          </a:xfrm>
          <a:prstGeom prst="rect">
            <a:avLst/>
          </a:prstGeom>
          <a:solidFill>
            <a:srgbClr val="F2F0E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54096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顧客訪談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305409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共同（互為盲編碼）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915400" y="3054096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3712464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行銷內容與獲客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371246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主責（設計）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15400" y="371246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素材與案例產出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325112"/>
            <a:ext cx="11247120" cy="603504"/>
          </a:xfrm>
          <a:prstGeom prst="rect">
            <a:avLst/>
          </a:prstGeom>
          <a:solidFill>
            <a:srgbClr val="F2F0E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370832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財務 · P&amp;L · 定價紀律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437083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主責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915400" y="437083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提供成本數據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029200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日常推進與交付節奏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35040" y="502920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不介入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915400" y="5029200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6235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C1C1E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74243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原則：日常推進由夥伴主導，Jake 不當監工——督促必須是系統，不是某個人的注意力（下一頁）。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 構 · 合 作 機 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把「督促」設計成系統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這案最大的隱藏風險不是市場，是「需要人督促的執行者 × 沒空督促的策略者」。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解法不是硬擠時間，是用節奏與記分板取代注意力。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2F0ED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240280"/>
            <a:ext cx="420624" cy="420624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週一戰略會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761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分鐘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30358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Jake 主持，決策當場記錄。這是 Jake 的最低承諾，也是唯一固定投入。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011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2F0ED"/>
          </a:solidFill>
          <a:ln/>
        </p:spPr>
      </p:sp>
      <p:sp>
        <p:nvSpPr>
          <p:cNvPr id="12" name="Shape 10"/>
          <p:cNvSpPr/>
          <p:nvPr/>
        </p:nvSpPr>
        <p:spPr>
          <a:xfrm>
            <a:off x="4636008" y="2240280"/>
            <a:ext cx="420624" cy="420624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每日三行日報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36008" y="2761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非同步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36008" y="30358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做了什麼／下一步／卡在哪。可用機器人自動催收，不靠人情催。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2011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2F0ED"/>
          </a:solidFill>
          <a:ln/>
        </p:spPr>
      </p:sp>
      <p:sp>
        <p:nvSpPr>
          <p:cNvPr id="18" name="Shape 16"/>
          <p:cNvSpPr/>
          <p:nvPr/>
        </p:nvSpPr>
        <p:spPr>
          <a:xfrm>
            <a:off x="8430768" y="2240280"/>
            <a:ext cx="420624" cy="420624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9" name="Text 17"/>
          <p:cNvSpPr/>
          <p:nvPr/>
        </p:nvSpPr>
        <p:spPr>
          <a:xfrm>
            <a:off x="8430768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月度 P&amp;L 對帳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30768" y="2761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每月一次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30768" y="30358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真實成本與收入攤在桌上，避免「感覺有在動」的錯覺。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1C1C1E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合夥條款：90 天試合作，先不談股權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475488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先設 3 個里程碑合作一輪；90 天後依實際貢獻談分配——保護生意，也保護友誼。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正式成立時股權一律 vesting 4 年 / 1 年 cliff，沒有例外。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開工前先各自寫下：想做多大、能投入多少時間與錢、三年後想要什麼——寫下來，不是用講的。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 程 · 客 戶 交 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一個案子怎麼從詢問走到出貨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2F0ED"/>
          </a:solidFill>
          <a:ln w="12700">
            <a:solidFill>
              <a:srgbClr val="DDD8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691640"/>
            <a:ext cx="402336" cy="40233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需求釐清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4203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品類 · 品質等級 · 數量 · 預算 · 時程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72968" y="212140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2F0ED"/>
          </a:solidFill>
          <a:ln w="12700">
            <a:solidFill>
              <a:srgbClr val="DDD8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9312" y="1691640"/>
            <a:ext cx="402336" cy="40233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39312" y="2212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供應商配對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39312" y="254203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從供給清單反推 2–3 家候選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07608" y="212140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2F0ED"/>
          </a:solidFill>
          <a:ln w="12700">
            <a:solidFill>
              <a:srgbClr val="DDD8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1691640"/>
            <a:ext cx="402336" cy="40233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3952" y="2212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打樣開發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73952" y="254203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把設計語言翻譯成工廠語言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42248" y="212140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52560" y="14630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2F0ED"/>
          </a:solidFill>
          <a:ln w="12700">
            <a:solidFill>
              <a:srgbClr val="DDD8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08592" y="1691640"/>
            <a:ext cx="402336" cy="40233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4" name="Text 22"/>
          <p:cNvSpPr/>
          <p:nvPr/>
        </p:nvSpPr>
        <p:spPr>
          <a:xfrm>
            <a:off x="9308592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08592" y="2212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報價定版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08592" y="254203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真實成本攤開，客戶確認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611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D8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3840480"/>
            <a:ext cx="402336" cy="40233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4672" y="4361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小批量產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4672" y="46908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排程 · 物料 · 交期管理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172968" y="427024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383280" y="3611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D8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39312" y="3840480"/>
            <a:ext cx="402336" cy="40233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35" name="Text 33"/>
          <p:cNvSpPr/>
          <p:nvPr/>
        </p:nvSpPr>
        <p:spPr>
          <a:xfrm>
            <a:off x="3639312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39312" y="4361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駐廠 QC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639312" y="46908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親自驗貨，品質責任在我們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07608" y="427024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7920" y="3611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D8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73952" y="3840480"/>
            <a:ext cx="402336" cy="40233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41" name="Text 39"/>
          <p:cNvSpPr/>
          <p:nvPr/>
        </p:nvSpPr>
        <p:spPr>
          <a:xfrm>
            <a:off x="6473952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73952" y="4361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交付物流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473952" y="46908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含關務與跨境安排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842248" y="427024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52560" y="3611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D8D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08592" y="3840480"/>
            <a:ext cx="402336" cy="40233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47" name="Text 45"/>
          <p:cNvSpPr/>
          <p:nvPr/>
        </p:nvSpPr>
        <p:spPr>
          <a:xfrm>
            <a:off x="9308592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308592" y="4361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復盤回購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308592" y="46908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售罄數據回饋下一季開發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B08D57"/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" y="587044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收費落點：① 打樣專案費　→　⑤⑥ 量產佣金　→　⑧ 轉為月度 retainer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 程 · 驗 證 路 線 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天內知道這門生意成不成立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B08D5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276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1–2 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20848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驗供給（不是先找客戶）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17520" y="1371600"/>
            <a:ext cx="8595360" cy="1463040"/>
          </a:xfrm>
          <a:prstGeom prst="roundRect">
            <a:avLst>
              <a:gd name="adj" fmla="val 5000"/>
            </a:avLst>
          </a:prstGeom>
          <a:solidFill>
            <a:srgbClr val="F2F0ED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572768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法務檢查：競業／保密條款與供應商端風險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產出「小單友善」供給清單：品類 × 起訂量 × 打樣週期 × 報價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門檻：≥ 8 家願接小單的精品級廠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227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3–6 週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85800" y="36850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驗需求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017520" y="2971800"/>
            <a:ext cx="8595360" cy="1463040"/>
          </a:xfrm>
          <a:prstGeom prst="roundRect">
            <a:avLst>
              <a:gd name="adj" fmla="val 5000"/>
            </a:avLst>
          </a:prstGeom>
          <a:solidFill>
            <a:srgbClr val="F2F0ED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3172968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場目標客戶訪談（設計師品牌／高端訂製／品牌禮贈）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收尾遞出真 offer：付費打樣專案訂金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冷樣本 ≥ 3；兩人互為盲編碼，避免自我說服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3F6B5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828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7–12 週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85800" y="52852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驗交付與經濟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017520" y="4572000"/>
            <a:ext cx="8595360" cy="1463040"/>
          </a:xfrm>
          <a:prstGeom prst="roundRect">
            <a:avLst>
              <a:gd name="adj" fmla="val 5000"/>
            </a:avLst>
          </a:prstGeom>
          <a:solidFill>
            <a:srgbClr val="F2F0ED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4773168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完整交付 3 個付費專案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四指標裁決：交付品質／回購／轉介紹／實際時薪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把第 8 頁的情境模型換成真實數字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順序是刻意的：先驗供給再驗需求。供給清單湊不出來，後面的客戶訪談就沒有東西可賣。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 險 與 停 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五個風險，兩條紅線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2F0E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競業與保密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54680" y="146304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他的離職協議是否有競業／NDA？更關鍵是供應商端——一線精品代工廠常被品牌綁保密與獨家。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058400" y="1591056"/>
            <a:ext cx="1325880" cy="402336"/>
          </a:xfrm>
          <a:prstGeom prst="roundRect">
            <a:avLst>
              <a:gd name="adj" fmla="val 18182"/>
            </a:avLst>
          </a:prstGeom>
          <a:solidFill>
            <a:srgbClr val="9B2C2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0" y="159105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紅線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2F0E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957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MOQ 錯配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54680" y="239572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「精品級 × 小單 × 有佐證」的組合公開查無。百件小單技術可行，但那是快時尚證明的。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058400" y="2523744"/>
            <a:ext cx="1325880" cy="402336"/>
          </a:xfrm>
          <a:prstGeom prst="roundRect">
            <a:avLst>
              <a:gd name="adj" fmla="val 18182"/>
            </a:avLst>
          </a:prstGeom>
          <a:solidFill>
            <a:srgbClr val="9B2C2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0" y="252374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第一考題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3697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2F0ED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32841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需求薄度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54680" y="3328416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台灣／亞洲願付精品級製造成本的客戶密度未知，可能要修正客群定義。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058400" y="3456432"/>
            <a:ext cx="1325880" cy="402336"/>
          </a:xfrm>
          <a:prstGeom prst="roundRect">
            <a:avLst>
              <a:gd name="adj" fmla="val 18182"/>
            </a:avLst>
          </a:prstGeom>
          <a:solidFill>
            <a:srgbClr val="B08D57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345643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訪談裁決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6966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2F0ED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26110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地緣逆風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154680" y="4261104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美國客戶去中國化中；主力客群應設定台／日／東南亞，或延伸越南雙軌。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058400" y="4389120"/>
            <a:ext cx="1325880" cy="402336"/>
          </a:xfrm>
          <a:prstGeom prst="roundRect">
            <a:avLst>
              <a:gd name="adj" fmla="val 18182"/>
            </a:avLst>
          </a:prstGeom>
          <a:solidFill>
            <a:srgbClr val="6E6E73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438912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0235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2F0ED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937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中介價值侵蝕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154680" y="5193792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1688 已殺死資訊差中介；防禦必須建立在 QC 執行與品質責任，而非介紹。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058400" y="5321808"/>
            <a:ext cx="1325880" cy="402336"/>
          </a:xfrm>
          <a:prstGeom prst="roundRect">
            <a:avLst>
              <a:gd name="adj" fmla="val 18182"/>
            </a:avLst>
          </a:prstGeom>
          <a:solidFill>
            <a:srgbClr val="6E6E73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0" y="532180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定位解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7424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 criteria（事前講好）：法務不過 ＝ 停　｜　供給清單 &lt; 8 家 ＝ 轉做跨境二手精品　｜　訪談 offer 零轉化 ＝ 換客群或收攤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 一 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兩週內要發生的四件事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309360" cy="868680"/>
          </a:xfrm>
          <a:prstGeom prst="roundRect">
            <a:avLst>
              <a:gd name="adj" fmla="val 6316"/>
            </a:avLst>
          </a:prstGeom>
          <a:solidFill>
            <a:srgbClr val="2A2A2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591056"/>
            <a:ext cx="429768" cy="429768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9105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對齊談話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79222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各自寫下目標、可投入的時間與錢、三年後想要什麼（2 小時）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40864"/>
            <a:ext cx="6309360" cy="868680"/>
          </a:xfrm>
          <a:prstGeom prst="roundRect">
            <a:avLst>
              <a:gd name="adj" fmla="val 6316"/>
            </a:avLst>
          </a:prstGeom>
          <a:solidFill>
            <a:srgbClr val="2A2A2E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560320"/>
            <a:ext cx="429768" cy="429768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6032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法務檢查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7614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競業／保密條款盤點——這是紅線，先查再動任何一家廠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10128"/>
            <a:ext cx="6309360" cy="868680"/>
          </a:xfrm>
          <a:prstGeom prst="roundRect">
            <a:avLst>
              <a:gd name="adj" fmla="val 6316"/>
            </a:avLst>
          </a:prstGeom>
          <a:solidFill>
            <a:srgbClr val="2A2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3529584"/>
            <a:ext cx="429768" cy="429768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52958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4198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供給清單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37307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 家願接小單的精品級廠：品類 × MOQ × 打樣週期 × 報價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279392"/>
            <a:ext cx="6309360" cy="868680"/>
          </a:xfrm>
          <a:prstGeom prst="roundRect">
            <a:avLst>
              <a:gd name="adj" fmla="val 6316"/>
            </a:avLst>
          </a:prstGeom>
          <a:solidFill>
            <a:srgbClr val="2A2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498848"/>
            <a:ext cx="429768" cy="429768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49884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訪談名單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47000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個目標客戶具名清單，含 ≥ 3 個非人脈的冷樣本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223760" y="1371600"/>
            <a:ext cx="4389120" cy="3703320"/>
          </a:xfrm>
          <a:prstGeom prst="roundRect">
            <a:avLst>
              <a:gd name="adj" fmla="val 1975"/>
            </a:avLst>
          </a:prstGeom>
          <a:solidFill>
            <a:srgbClr val="B08D57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今天要談出結論的五題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543800" y="2103120"/>
            <a:ext cx="3794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這門生意的天花板，我們兩個都能接受嗎？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他的競業／保密狀況實際上是什麼？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供給清單兩週內拿得出來嗎？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各自能投入多少時間？錢從哪裡來？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天後如果數字不好看，我們願意收手嗎？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EDE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先驗供給，再驗需求，最後才驗經濟。</a:t>
            </a: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EDE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每一關都設好停損——這樣就算不做，我們也只花了 90 天，換到一整份市場情報。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精品級供應鏈接入服務 — 合作討論</dc:title>
  <dc:subject>PptxGenJS Presentation</dc:subject>
  <dc:creator>Jake</dc:creator>
  <cp:lastModifiedBy>Jake</cp:lastModifiedBy>
  <cp:revision>1</cp:revision>
  <dcterms:created xsi:type="dcterms:W3CDTF">2026-07-26T10:39:44Z</dcterms:created>
  <dcterms:modified xsi:type="dcterms:W3CDTF">2026-07-26T10:39:44Z</dcterms:modified>
</cp:coreProperties>
</file>